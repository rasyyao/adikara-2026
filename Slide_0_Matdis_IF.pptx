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8" r:id="rId5"/>
    <p:sldId id="259" r:id="rId6"/>
    <p:sldId id="260" r:id="rId7"/>
    <p:sldId id="261" r:id="rId8"/>
    <p:sldId id="262" r:id="rId9"/>
    <p:sldId id="263" r:id="rId10"/>
    <p:sldId id="279" r:id="rId11"/>
    <p:sldId id="265" r:id="rId12"/>
    <p:sldId id="266" r:id="rId13"/>
    <p:sldId id="275" r:id="rId14"/>
    <p:sldId id="280" r:id="rId15"/>
    <p:sldId id="277" r:id="rId16"/>
    <p:sldId id="269" r:id="rId17"/>
    <p:sldId id="276" r:id="rId18"/>
    <p:sldId id="267" r:id="rId19"/>
    <p:sldId id="272" r:id="rId20"/>
    <p:sldId id="273" r:id="rId21"/>
    <p:sldId id="274" r:id="rId2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4" d="100"/>
          <a:sy n="124" d="100"/>
        </p:scale>
        <p:origin x="159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182E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82E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16</a:t>
            </a:r>
            <a:r>
              <a:rPr spc="-20" dirty="0"/>
              <a:t> </a:t>
            </a:r>
            <a:r>
              <a:rPr dirty="0"/>
              <a:t>September</a:t>
            </a:r>
            <a:r>
              <a:rPr spc="-1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82E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182E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82E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16</a:t>
            </a:r>
            <a:r>
              <a:rPr spc="-20" dirty="0"/>
              <a:t> </a:t>
            </a:r>
            <a:r>
              <a:rPr dirty="0"/>
              <a:t>September</a:t>
            </a:r>
            <a:r>
              <a:rPr spc="-1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82E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182E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82E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16</a:t>
            </a:r>
            <a:r>
              <a:rPr spc="-20" dirty="0"/>
              <a:t> </a:t>
            </a:r>
            <a:r>
              <a:rPr dirty="0"/>
              <a:t>September</a:t>
            </a:r>
            <a:r>
              <a:rPr spc="-15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82E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182E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82E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16</a:t>
            </a:r>
            <a:r>
              <a:rPr spc="-20" dirty="0"/>
              <a:t> </a:t>
            </a:r>
            <a:r>
              <a:rPr dirty="0"/>
              <a:t>September</a:t>
            </a:r>
            <a:r>
              <a:rPr spc="-15" dirty="0"/>
              <a:t> 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82E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370" y="688225"/>
            <a:ext cx="1265255" cy="14406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82E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16</a:t>
            </a:r>
            <a:r>
              <a:rPr spc="-20" dirty="0"/>
              <a:t> </a:t>
            </a:r>
            <a:r>
              <a:rPr dirty="0"/>
              <a:t>September</a:t>
            </a:r>
            <a:r>
              <a:rPr spc="-15" dirty="0"/>
              <a:t> </a:t>
            </a:r>
            <a:r>
              <a:rPr spc="-20" dirty="0"/>
              <a:t>2024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82E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3425" y="243643"/>
            <a:ext cx="3538854" cy="340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182E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957" y="806879"/>
            <a:ext cx="3797300" cy="1952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02091" y="3210317"/>
            <a:ext cx="789305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182E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16</a:t>
            </a:r>
            <a:r>
              <a:rPr spc="-20" dirty="0"/>
              <a:t> </a:t>
            </a:r>
            <a:r>
              <a:rPr dirty="0"/>
              <a:t>September</a:t>
            </a:r>
            <a:r>
              <a:rPr spc="-15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40817" y="3210317"/>
            <a:ext cx="158114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182E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7250" y="2161689"/>
            <a:ext cx="2613393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182E68"/>
                </a:solidFill>
                <a:latin typeface="Calibri"/>
                <a:cs typeface="Calibri"/>
              </a:rPr>
              <a:t>Slide</a:t>
            </a:r>
            <a:r>
              <a:rPr lang="en-US" sz="1400" spc="175" dirty="0">
                <a:solidFill>
                  <a:srgbClr val="182E68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82E68"/>
                </a:solidFill>
                <a:latin typeface="Calibri"/>
                <a:cs typeface="Calibri"/>
              </a:rPr>
              <a:t>ke-</a:t>
            </a:r>
            <a:r>
              <a:rPr sz="1400" dirty="0">
                <a:solidFill>
                  <a:srgbClr val="182E68"/>
                </a:solidFill>
                <a:latin typeface="Calibri"/>
                <a:cs typeface="Calibri"/>
              </a:rPr>
              <a:t>0</a:t>
            </a:r>
            <a:r>
              <a:rPr sz="1400" spc="175" dirty="0">
                <a:solidFill>
                  <a:srgbClr val="182E68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182E68"/>
                </a:solidFill>
                <a:latin typeface="Calibri"/>
                <a:cs typeface="Calibri"/>
              </a:rPr>
              <a:t>MK</a:t>
            </a:r>
            <a:r>
              <a:rPr sz="1400" spc="175" dirty="0">
                <a:solidFill>
                  <a:srgbClr val="182E68"/>
                </a:solidFill>
                <a:latin typeface="Calibri"/>
                <a:cs typeface="Calibri"/>
              </a:rPr>
              <a:t> </a:t>
            </a:r>
            <a:r>
              <a:rPr lang="en-US" sz="1400" spc="-10" dirty="0" err="1">
                <a:solidFill>
                  <a:srgbClr val="182E68"/>
                </a:solidFill>
                <a:latin typeface="Calibri"/>
                <a:cs typeface="Calibri"/>
              </a:rPr>
              <a:t>Matematika</a:t>
            </a:r>
            <a:r>
              <a:rPr lang="en-US" sz="1400" spc="-10" dirty="0">
                <a:solidFill>
                  <a:srgbClr val="182E68"/>
                </a:solidFill>
                <a:latin typeface="Calibri"/>
                <a:cs typeface="Calibri"/>
              </a:rPr>
              <a:t> </a:t>
            </a:r>
            <a:r>
              <a:rPr lang="en-US" sz="1400" spc="-10" dirty="0" err="1">
                <a:solidFill>
                  <a:srgbClr val="182E68"/>
                </a:solidFill>
                <a:latin typeface="Calibri"/>
                <a:cs typeface="Calibri"/>
              </a:rPr>
              <a:t>Diskret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425" y="1198937"/>
            <a:ext cx="224472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45" dirty="0"/>
              <a:t>Informasi</a:t>
            </a:r>
            <a:r>
              <a:rPr dirty="0"/>
              <a:t> </a:t>
            </a:r>
            <a:r>
              <a:rPr spc="-30" dirty="0"/>
              <a:t>Perkuliahan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3425" y="1494890"/>
            <a:ext cx="3077210" cy="43729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182E68"/>
                </a:solidFill>
                <a:latin typeface="Calibri"/>
                <a:cs typeface="Calibri"/>
              </a:rPr>
              <a:t>Mata</a:t>
            </a:r>
            <a:r>
              <a:rPr sz="1100" spc="190" dirty="0">
                <a:solidFill>
                  <a:srgbClr val="182E68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182E68"/>
                </a:solidFill>
                <a:latin typeface="Calibri"/>
                <a:cs typeface="Calibri"/>
              </a:rPr>
              <a:t>Kuliah</a:t>
            </a:r>
            <a:r>
              <a:rPr sz="1100" spc="195" dirty="0">
                <a:solidFill>
                  <a:srgbClr val="182E68"/>
                </a:solidFill>
                <a:latin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82E68"/>
                </a:solidFill>
                <a:latin typeface="Calibri"/>
                <a:cs typeface="Calibri"/>
              </a:rPr>
              <a:t>Matematika</a:t>
            </a:r>
            <a:r>
              <a:rPr lang="en-US" sz="1100" dirty="0">
                <a:solidFill>
                  <a:srgbClr val="182E68"/>
                </a:solidFill>
                <a:latin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82E68"/>
                </a:solidFill>
                <a:latin typeface="Calibri"/>
                <a:cs typeface="Calibri"/>
              </a:rPr>
              <a:t>Diskret</a:t>
            </a:r>
            <a:r>
              <a:rPr sz="1100" spc="190" dirty="0">
                <a:solidFill>
                  <a:srgbClr val="182E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82E68"/>
                </a:solidFill>
                <a:latin typeface="Calibri"/>
                <a:cs typeface="Calibri"/>
              </a:rPr>
              <a:t>S1</a:t>
            </a:r>
            <a:r>
              <a:rPr sz="1100" spc="190" dirty="0">
                <a:solidFill>
                  <a:srgbClr val="182E68"/>
                </a:solidFill>
                <a:latin typeface="Calibri"/>
                <a:cs typeface="Calibri"/>
              </a:rPr>
              <a:t> </a:t>
            </a:r>
            <a:r>
              <a:rPr lang="en-US" sz="1100" spc="190" dirty="0" err="1">
                <a:solidFill>
                  <a:srgbClr val="182E68"/>
                </a:solidFill>
                <a:latin typeface="Calibri"/>
                <a:cs typeface="Calibri"/>
              </a:rPr>
              <a:t>Informatika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00" dirty="0">
                <a:latin typeface="Calibri"/>
                <a:cs typeface="Calibri"/>
              </a:rPr>
              <a:t>Semester</a:t>
            </a:r>
            <a:r>
              <a:rPr sz="1000" spc="80" dirty="0">
                <a:latin typeface="Calibri"/>
                <a:cs typeface="Calibri"/>
              </a:rPr>
              <a:t> </a:t>
            </a:r>
            <a:r>
              <a:rPr sz="1000" dirty="0" err="1">
                <a:latin typeface="Calibri"/>
                <a:cs typeface="Calibri"/>
              </a:rPr>
              <a:t>Ganjil</a:t>
            </a:r>
            <a:r>
              <a:rPr sz="1000" spc="8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20</a:t>
            </a:r>
            <a:r>
              <a:rPr lang="en-US" sz="1000" spc="-10" dirty="0">
                <a:latin typeface="Calibri"/>
                <a:cs typeface="Calibri"/>
              </a:rPr>
              <a:t>25</a:t>
            </a:r>
            <a:r>
              <a:rPr sz="1000" spc="-10" dirty="0">
                <a:latin typeface="Calibri"/>
                <a:cs typeface="Calibri"/>
              </a:rPr>
              <a:t>/202</a:t>
            </a:r>
            <a:r>
              <a:rPr lang="en-US" sz="1000" spc="-10" dirty="0">
                <a:latin typeface="Calibri"/>
                <a:cs typeface="Calibri"/>
              </a:rPr>
              <a:t>6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002091" y="3210317"/>
            <a:ext cx="789305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>1</a:t>
            </a:r>
            <a:r>
              <a:rPr lang="en-US" dirty="0"/>
              <a:t>5</a:t>
            </a:r>
            <a:r>
              <a:rPr spc="-20" dirty="0"/>
              <a:t> </a:t>
            </a:r>
            <a:r>
              <a:rPr dirty="0"/>
              <a:t>September</a:t>
            </a:r>
            <a:r>
              <a:rPr spc="-15" dirty="0"/>
              <a:t> 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8" name="object 8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Mata</a:t>
            </a:r>
            <a:r>
              <a:rPr spc="95" dirty="0"/>
              <a:t> </a:t>
            </a:r>
            <a:r>
              <a:rPr dirty="0" err="1"/>
              <a:t>Kuliah</a:t>
            </a:r>
            <a:r>
              <a:rPr spc="105" dirty="0"/>
              <a:t> </a:t>
            </a:r>
            <a:r>
              <a:rPr lang="en-US" spc="-10" dirty="0" err="1"/>
              <a:t>Matematika</a:t>
            </a:r>
            <a:r>
              <a:rPr lang="en-US" spc="-10" dirty="0"/>
              <a:t> </a:t>
            </a:r>
            <a:r>
              <a:rPr lang="en-US" spc="-10" dirty="0" err="1"/>
              <a:t>Diskret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75957" y="1021985"/>
            <a:ext cx="3710304" cy="135445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58115" indent="-120014">
              <a:lnSpc>
                <a:spcPct val="100000"/>
              </a:lnSpc>
              <a:spcBef>
                <a:spcPts val="505"/>
              </a:spcBef>
              <a:buClr>
                <a:srgbClr val="182E68"/>
              </a:buClr>
              <a:buSzPct val="57142"/>
              <a:buChar char="•"/>
              <a:tabLst>
                <a:tab pos="158115" algn="l"/>
              </a:tabLst>
            </a:pPr>
            <a:r>
              <a:rPr sz="1400" dirty="0">
                <a:latin typeface="Calibri"/>
                <a:cs typeface="Calibri"/>
              </a:rPr>
              <a:t>Kode</a:t>
            </a:r>
            <a:r>
              <a:rPr sz="1400" spc="2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Mata</a:t>
            </a:r>
            <a:r>
              <a:rPr sz="1400" spc="2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Kuliah</a:t>
            </a:r>
            <a:r>
              <a:rPr sz="1400" spc="2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420" dirty="0">
                <a:latin typeface="Calibri"/>
                <a:cs typeface="Calibri"/>
              </a:rPr>
              <a:t> </a:t>
            </a:r>
            <a:r>
              <a:rPr sz="1400" spc="100" dirty="0">
                <a:latin typeface="Calibri"/>
                <a:cs typeface="Calibri"/>
              </a:rPr>
              <a:t>C</a:t>
            </a:r>
            <a:r>
              <a:rPr lang="en-US" sz="1400" spc="100" dirty="0">
                <a:latin typeface="Calibri"/>
                <a:cs typeface="Calibri"/>
              </a:rPr>
              <a:t>A</a:t>
            </a:r>
            <a:r>
              <a:rPr sz="1400" spc="100" dirty="0">
                <a:latin typeface="Calibri"/>
                <a:cs typeface="Calibri"/>
              </a:rPr>
              <a:t>K1</a:t>
            </a:r>
            <a:r>
              <a:rPr lang="en-US" sz="1400" spc="100" dirty="0">
                <a:latin typeface="Calibri"/>
                <a:cs typeface="Calibri"/>
              </a:rPr>
              <a:t>E</a:t>
            </a:r>
            <a:r>
              <a:rPr sz="1400" spc="100" dirty="0">
                <a:latin typeface="Calibri"/>
                <a:cs typeface="Calibri"/>
              </a:rPr>
              <a:t>AB3</a:t>
            </a:r>
            <a:endParaRPr sz="1400" dirty="0">
              <a:latin typeface="Calibri"/>
              <a:cs typeface="Calibri"/>
            </a:endParaRPr>
          </a:p>
          <a:p>
            <a:pPr marL="158115" indent="-120014">
              <a:lnSpc>
                <a:spcPct val="100000"/>
              </a:lnSpc>
              <a:spcBef>
                <a:spcPts val="409"/>
              </a:spcBef>
              <a:buClr>
                <a:srgbClr val="182E68"/>
              </a:buClr>
              <a:buSzPct val="57142"/>
              <a:buChar char="•"/>
              <a:tabLst>
                <a:tab pos="158115" algn="l"/>
              </a:tabLst>
            </a:pPr>
            <a:r>
              <a:rPr sz="1400" dirty="0">
                <a:latin typeface="Calibri"/>
                <a:cs typeface="Calibri"/>
              </a:rPr>
              <a:t>Sifat</a:t>
            </a:r>
            <a:r>
              <a:rPr sz="1400" spc="2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43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Mata</a:t>
            </a:r>
            <a:r>
              <a:rPr sz="1400" spc="2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Kuliah</a:t>
            </a:r>
            <a:r>
              <a:rPr sz="1400" spc="2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wajib</a:t>
            </a:r>
            <a:endParaRPr sz="1400" dirty="0">
              <a:latin typeface="Calibri"/>
              <a:cs typeface="Calibri"/>
            </a:endParaRPr>
          </a:p>
          <a:p>
            <a:pPr marL="158115" indent="-120014">
              <a:lnSpc>
                <a:spcPct val="100000"/>
              </a:lnSpc>
              <a:spcBef>
                <a:spcPts val="414"/>
              </a:spcBef>
              <a:buClr>
                <a:srgbClr val="182E68"/>
              </a:buClr>
              <a:buSzPct val="57142"/>
              <a:buChar char="•"/>
              <a:tabLst>
                <a:tab pos="158115" algn="l"/>
              </a:tabLst>
            </a:pPr>
            <a:r>
              <a:rPr sz="1400" dirty="0">
                <a:latin typeface="Calibri"/>
                <a:cs typeface="Calibri"/>
              </a:rPr>
              <a:t>Kredit</a:t>
            </a:r>
            <a:r>
              <a:rPr sz="1400" spc="2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3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3</a:t>
            </a:r>
            <a:r>
              <a:rPr sz="1400" spc="20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sks</a:t>
            </a:r>
            <a:endParaRPr sz="1400" dirty="0">
              <a:latin typeface="Calibri"/>
              <a:cs typeface="Calibri"/>
            </a:endParaRPr>
          </a:p>
          <a:p>
            <a:pPr marL="158115" indent="-120014">
              <a:lnSpc>
                <a:spcPct val="100000"/>
              </a:lnSpc>
              <a:spcBef>
                <a:spcPts val="409"/>
              </a:spcBef>
              <a:buClr>
                <a:srgbClr val="182E68"/>
              </a:buClr>
              <a:buSzPct val="57142"/>
              <a:buChar char="•"/>
              <a:tabLst>
                <a:tab pos="158115" algn="l"/>
              </a:tabLst>
            </a:pPr>
            <a:r>
              <a:rPr sz="1400" dirty="0">
                <a:latin typeface="Calibri"/>
                <a:cs typeface="Calibri"/>
              </a:rPr>
              <a:t>Mata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kuliah</a:t>
            </a:r>
            <a:r>
              <a:rPr sz="1400" spc="1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prasyarat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2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tidak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ada</a:t>
            </a:r>
            <a:endParaRPr sz="1400" dirty="0">
              <a:latin typeface="Calibri"/>
              <a:cs typeface="Calibri"/>
            </a:endParaRPr>
          </a:p>
          <a:p>
            <a:pPr marL="158115" indent="-120014">
              <a:lnSpc>
                <a:spcPct val="100000"/>
              </a:lnSpc>
              <a:spcBef>
                <a:spcPts val="409"/>
              </a:spcBef>
              <a:buClr>
                <a:srgbClr val="182E68"/>
              </a:buClr>
              <a:buSzPct val="57142"/>
              <a:buChar char="•"/>
              <a:tabLst>
                <a:tab pos="158115" algn="l"/>
              </a:tabLst>
            </a:pPr>
            <a:r>
              <a:rPr sz="1400" dirty="0">
                <a:latin typeface="Calibri"/>
                <a:cs typeface="Calibri"/>
              </a:rPr>
              <a:t>Program</a:t>
            </a:r>
            <a:r>
              <a:rPr sz="1400" spc="1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Studi</a:t>
            </a:r>
            <a:r>
              <a:rPr sz="1400" spc="1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350" dirty="0">
                <a:latin typeface="Calibri"/>
                <a:cs typeface="Calibri"/>
              </a:rPr>
              <a:t> </a:t>
            </a:r>
            <a:r>
              <a:rPr sz="1400" spc="60" dirty="0">
                <a:latin typeface="Calibri"/>
                <a:cs typeface="Calibri"/>
              </a:rPr>
              <a:t>S1</a:t>
            </a:r>
            <a:r>
              <a:rPr sz="1400" spc="185" dirty="0">
                <a:latin typeface="Calibri"/>
                <a:cs typeface="Calibri"/>
              </a:rPr>
              <a:t> </a:t>
            </a:r>
            <a:r>
              <a:rPr lang="en-US" sz="1400" spc="185" dirty="0" err="1">
                <a:latin typeface="Calibri"/>
                <a:cs typeface="Calibri"/>
              </a:rPr>
              <a:t>Informatika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02801-5F20-9AFC-0CC3-A3AAC397B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6F81E9-3366-F431-EDE9-22F577F902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425" y="243643"/>
            <a:ext cx="3538854" cy="6456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pc="-20" dirty="0"/>
              <a:t>Program</a:t>
            </a:r>
            <a:r>
              <a:rPr spc="5" dirty="0"/>
              <a:t> </a:t>
            </a:r>
            <a:r>
              <a:rPr spc="-20" dirty="0"/>
              <a:t>Learning</a:t>
            </a:r>
            <a:r>
              <a:rPr spc="5" dirty="0"/>
              <a:t> </a:t>
            </a:r>
            <a:r>
              <a:rPr spc="-35" dirty="0"/>
              <a:t>Outcomes</a:t>
            </a:r>
            <a:r>
              <a:rPr spc="-5" dirty="0"/>
              <a:t> </a:t>
            </a:r>
            <a:r>
              <a:rPr spc="105" dirty="0"/>
              <a:t>(</a:t>
            </a:r>
            <a:r>
              <a:rPr lang="en-US" spc="105" dirty="0"/>
              <a:t>P</a:t>
            </a:r>
            <a:r>
              <a:rPr spc="105" dirty="0"/>
              <a:t>LO)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CA1571F-7960-B170-91A7-409CCC76CA89}"/>
              </a:ext>
            </a:extLst>
          </p:cNvPr>
          <p:cNvSpPr txBox="1"/>
          <p:nvPr/>
        </p:nvSpPr>
        <p:spPr>
          <a:xfrm>
            <a:off x="475957" y="841296"/>
            <a:ext cx="3777615" cy="114492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7480" marR="33655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endParaRPr lang="en-US" sz="1400" spc="60" dirty="0">
              <a:latin typeface="Calibri"/>
              <a:cs typeface="Calibri"/>
            </a:endParaRPr>
          </a:p>
          <a:p>
            <a:pPr marL="157480" marR="33655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lang="en-US" sz="1400" spc="60" dirty="0">
                <a:latin typeface="Calibri"/>
                <a:cs typeface="Calibri"/>
              </a:rPr>
              <a:t>P</a:t>
            </a:r>
            <a:r>
              <a:rPr sz="1400" spc="60" dirty="0">
                <a:latin typeface="Calibri"/>
                <a:cs typeface="Calibri"/>
              </a:rPr>
              <a:t>LO-</a:t>
            </a:r>
            <a:r>
              <a:rPr sz="1400" spc="55" dirty="0">
                <a:latin typeface="Calibri"/>
                <a:cs typeface="Calibri"/>
              </a:rPr>
              <a:t>0</a:t>
            </a:r>
            <a:r>
              <a:rPr lang="en-US" sz="1400" spc="55" dirty="0">
                <a:latin typeface="Calibri"/>
                <a:cs typeface="Calibri"/>
              </a:rPr>
              <a:t>3</a:t>
            </a:r>
            <a:r>
              <a:rPr sz="1400" spc="1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”</a:t>
            </a:r>
            <a:r>
              <a:rPr lang="en-ID" sz="1400" dirty="0" err="1">
                <a:latin typeface="Calibri"/>
                <a:cs typeface="Calibri"/>
              </a:rPr>
              <a:t>Kemampuan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menerapkan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prinsip-prinsip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dasar</a:t>
            </a:r>
            <a:r>
              <a:rPr lang="en-ID" sz="1400" dirty="0">
                <a:latin typeface="Calibri"/>
                <a:cs typeface="Calibri"/>
              </a:rPr>
              <a:t> sains, </a:t>
            </a:r>
            <a:r>
              <a:rPr lang="en-ID" sz="1400" dirty="0" err="1">
                <a:latin typeface="Calibri"/>
                <a:cs typeface="Calibri"/>
              </a:rPr>
              <a:t>matematika</a:t>
            </a:r>
            <a:r>
              <a:rPr lang="en-ID" sz="1400" dirty="0">
                <a:latin typeface="Calibri"/>
                <a:cs typeface="Calibri"/>
              </a:rPr>
              <a:t>, dan </a:t>
            </a:r>
            <a:r>
              <a:rPr lang="en-ID" sz="1400" dirty="0" err="1">
                <a:latin typeface="Calibri"/>
                <a:cs typeface="Calibri"/>
              </a:rPr>
              <a:t>algoritma</a:t>
            </a:r>
            <a:r>
              <a:rPr lang="en-ID" sz="1400" dirty="0">
                <a:latin typeface="Calibri"/>
                <a:cs typeface="Calibri"/>
              </a:rPr>
              <a:t>, </a:t>
            </a:r>
            <a:r>
              <a:rPr lang="en-ID" sz="1400" dirty="0" err="1">
                <a:latin typeface="Calibri"/>
                <a:cs typeface="Calibri"/>
              </a:rPr>
              <a:t>dalam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menyelesaikan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masalah</a:t>
            </a:r>
            <a:r>
              <a:rPr lang="en-ID" sz="1400" dirty="0">
                <a:latin typeface="Calibri"/>
                <a:cs typeface="Calibri"/>
              </a:rPr>
              <a:t> di </a:t>
            </a:r>
            <a:r>
              <a:rPr lang="en-ID" sz="1400" dirty="0" err="1">
                <a:latin typeface="Calibri"/>
                <a:cs typeface="Calibri"/>
              </a:rPr>
              <a:t>bidang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informatika</a:t>
            </a:r>
            <a:r>
              <a:rPr sz="1400" spc="-10" dirty="0">
                <a:latin typeface="Calibri"/>
                <a:cs typeface="Calibri"/>
              </a:rPr>
              <a:t>.”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95E18E81-5083-7091-415C-859074D3809C}"/>
              </a:ext>
            </a:extLst>
          </p:cNvPr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FDB979B-9D2E-4DBB-6E97-DA5B7668D98C}"/>
                </a:ext>
              </a:extLst>
            </p:cNvPr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73942A6-5198-D0DE-79EF-4BF4982C342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28B2520-5E6F-6F08-696A-BC0F62E49995}"/>
              </a:ext>
            </a:extLst>
          </p:cNvPr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6C7E8BA-C5D4-6A06-28B1-7496CBC9A59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859538451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20" dirty="0"/>
              <a:t>Course</a:t>
            </a:r>
            <a:r>
              <a:rPr spc="5" dirty="0"/>
              <a:t> </a:t>
            </a:r>
            <a:r>
              <a:rPr spc="-20" dirty="0"/>
              <a:t>Learning</a:t>
            </a:r>
            <a:r>
              <a:rPr spc="5" dirty="0"/>
              <a:t> </a:t>
            </a:r>
            <a:r>
              <a:rPr spc="-35" dirty="0"/>
              <a:t>Outcomes</a:t>
            </a:r>
            <a:r>
              <a:rPr spc="-5" dirty="0"/>
              <a:t> </a:t>
            </a:r>
            <a:r>
              <a:rPr spc="105" dirty="0"/>
              <a:t>(CLO)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957" y="841296"/>
            <a:ext cx="3777615" cy="1183401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7480" marR="33655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sz="1400" spc="60" dirty="0">
                <a:latin typeface="Calibri"/>
                <a:cs typeface="Calibri"/>
              </a:rPr>
              <a:t>CLO-</a:t>
            </a:r>
            <a:r>
              <a:rPr sz="1400" spc="55" dirty="0">
                <a:latin typeface="Calibri"/>
                <a:cs typeface="Calibri"/>
              </a:rPr>
              <a:t>0</a:t>
            </a:r>
            <a:r>
              <a:rPr lang="en-US" sz="1400" spc="55" dirty="0">
                <a:latin typeface="Calibri"/>
                <a:cs typeface="Calibri"/>
              </a:rPr>
              <a:t>3</a:t>
            </a:r>
            <a:r>
              <a:rPr sz="1400" spc="55" dirty="0">
                <a:latin typeface="Calibri"/>
                <a:cs typeface="Calibri"/>
              </a:rPr>
              <a:t>-</a:t>
            </a:r>
            <a:r>
              <a:rPr sz="1400" spc="60" dirty="0">
                <a:latin typeface="Calibri"/>
                <a:cs typeface="Calibri"/>
              </a:rPr>
              <a:t>1</a:t>
            </a:r>
            <a:r>
              <a:rPr sz="1400" spc="1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”</a:t>
            </a:r>
            <a:r>
              <a:rPr lang="en-ID" sz="1400" dirty="0">
                <a:latin typeface="Calibri"/>
                <a:cs typeface="Calibri"/>
              </a:rPr>
              <a:t>Mampu </a:t>
            </a:r>
            <a:r>
              <a:rPr lang="en-ID" sz="1400" dirty="0" err="1">
                <a:latin typeface="Calibri"/>
                <a:cs typeface="Calibri"/>
              </a:rPr>
              <a:t>memahami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prinsip-prinsip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dasar</a:t>
            </a:r>
            <a:r>
              <a:rPr lang="en-ID" sz="1400" dirty="0">
                <a:latin typeface="Calibri"/>
                <a:cs typeface="Calibri"/>
              </a:rPr>
              <a:t> sains dan </a:t>
            </a:r>
            <a:r>
              <a:rPr lang="en-ID" sz="1400" dirty="0" err="1">
                <a:latin typeface="Calibri"/>
                <a:cs typeface="Calibri"/>
              </a:rPr>
              <a:t>matematika</a:t>
            </a:r>
            <a:r>
              <a:rPr sz="1400" spc="-10" dirty="0">
                <a:latin typeface="Calibri"/>
                <a:cs typeface="Calibri"/>
              </a:rPr>
              <a:t>.”</a:t>
            </a:r>
            <a:endParaRPr sz="1400" dirty="0">
              <a:latin typeface="Calibri"/>
              <a:cs typeface="Calibri"/>
            </a:endParaRPr>
          </a:p>
          <a:p>
            <a:pPr marL="157480" marR="30480" indent="-120014">
              <a:lnSpc>
                <a:spcPct val="106700"/>
              </a:lnSpc>
              <a:spcBef>
                <a:spcPts val="30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sz="1400" spc="60" dirty="0">
                <a:latin typeface="Calibri"/>
                <a:cs typeface="Calibri"/>
              </a:rPr>
              <a:t>CLO-</a:t>
            </a:r>
            <a:r>
              <a:rPr sz="1400" spc="55" dirty="0">
                <a:latin typeface="Calibri"/>
                <a:cs typeface="Calibri"/>
              </a:rPr>
              <a:t>03-</a:t>
            </a:r>
            <a:r>
              <a:rPr lang="en-US" sz="1400" spc="60" dirty="0">
                <a:latin typeface="Calibri"/>
                <a:cs typeface="Calibri"/>
              </a:rPr>
              <a:t>3</a:t>
            </a:r>
            <a:r>
              <a:rPr sz="1400" spc="110" dirty="0">
                <a:latin typeface="Calibri"/>
                <a:cs typeface="Calibri"/>
              </a:rPr>
              <a:t> </a:t>
            </a:r>
            <a:r>
              <a:rPr lang="en-US" sz="1400" spc="110" dirty="0">
                <a:latin typeface="Calibri"/>
                <a:cs typeface="Calibri"/>
              </a:rPr>
              <a:t>"</a:t>
            </a:r>
            <a:r>
              <a:rPr lang="en-ID" sz="1400" dirty="0">
                <a:latin typeface="Calibri"/>
                <a:cs typeface="Calibri"/>
              </a:rPr>
              <a:t>Mampu </a:t>
            </a:r>
            <a:r>
              <a:rPr lang="en-ID" sz="1400" dirty="0" err="1">
                <a:latin typeface="Calibri"/>
                <a:cs typeface="Calibri"/>
              </a:rPr>
              <a:t>menerapkan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prinsip-prinsip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dasar</a:t>
            </a:r>
            <a:r>
              <a:rPr lang="en-ID" sz="1400" dirty="0">
                <a:latin typeface="Calibri"/>
                <a:cs typeface="Calibri"/>
              </a:rPr>
              <a:t> sains dan </a:t>
            </a:r>
            <a:r>
              <a:rPr lang="en-ID" sz="1400" dirty="0" err="1">
                <a:latin typeface="Calibri"/>
                <a:cs typeface="Calibri"/>
              </a:rPr>
              <a:t>matematika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dalam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menyelesaikan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masalah</a:t>
            </a:r>
            <a:r>
              <a:rPr lang="en-ID" sz="1400" dirty="0">
                <a:latin typeface="Calibri"/>
                <a:cs typeface="Calibri"/>
              </a:rPr>
              <a:t> di </a:t>
            </a:r>
            <a:r>
              <a:rPr lang="en-ID" sz="1400" dirty="0" err="1">
                <a:latin typeface="Calibri"/>
                <a:cs typeface="Calibri"/>
              </a:rPr>
              <a:t>bidang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informatika</a:t>
            </a:r>
            <a:r>
              <a:rPr sz="1400" spc="-10" dirty="0">
                <a:latin typeface="Calibri"/>
                <a:cs typeface="Calibri"/>
              </a:rPr>
              <a:t>.</a:t>
            </a:r>
            <a:r>
              <a:rPr lang="en-US" sz="1400" spc="-10" dirty="0">
                <a:latin typeface="Calibri"/>
                <a:cs typeface="Calibri"/>
              </a:rPr>
              <a:t>"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Sub</a:t>
            </a:r>
            <a:r>
              <a:rPr spc="170" dirty="0"/>
              <a:t> </a:t>
            </a:r>
            <a:r>
              <a:rPr dirty="0"/>
              <a:t>-</a:t>
            </a:r>
            <a:r>
              <a:rPr spc="180" dirty="0"/>
              <a:t> </a:t>
            </a:r>
            <a:r>
              <a:rPr spc="105" dirty="0"/>
              <a:t>CLO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1020" y="557868"/>
            <a:ext cx="3769995" cy="2566472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7480" marR="30480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sz="1400" dirty="0">
                <a:latin typeface="Calibri"/>
                <a:cs typeface="Calibri"/>
              </a:rPr>
              <a:t>Sub-CLO-0</a:t>
            </a:r>
            <a:r>
              <a:rPr lang="en-US" sz="1400" dirty="0">
                <a:latin typeface="Calibri"/>
                <a:cs typeface="Calibri"/>
              </a:rPr>
              <a:t>3</a:t>
            </a:r>
            <a:r>
              <a:rPr sz="1400" dirty="0">
                <a:latin typeface="Calibri"/>
                <a:cs typeface="Calibri"/>
              </a:rPr>
              <a:t>-1-1</a:t>
            </a:r>
            <a:r>
              <a:rPr lang="en-US" sz="1400" dirty="0">
                <a:latin typeface="Calibri"/>
                <a:cs typeface="Calibri"/>
              </a:rPr>
              <a:t>:</a:t>
            </a:r>
            <a:r>
              <a:rPr sz="1400" spc="38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Mahasiswa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memiliki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kemampuan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dalam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mengidentifikasi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karakteristik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relasi</a:t>
            </a:r>
            <a:r>
              <a:rPr lang="en-ID" sz="1400" dirty="0">
                <a:latin typeface="Calibri"/>
                <a:cs typeface="Calibri"/>
              </a:rPr>
              <a:t>, </a:t>
            </a:r>
            <a:r>
              <a:rPr lang="en-ID" sz="1400" dirty="0" err="1">
                <a:latin typeface="Calibri"/>
                <a:cs typeface="Calibri"/>
              </a:rPr>
              <a:t>fungsi</a:t>
            </a:r>
            <a:r>
              <a:rPr lang="en-ID" sz="1400" dirty="0">
                <a:latin typeface="Calibri"/>
                <a:cs typeface="Calibri"/>
              </a:rPr>
              <a:t>, dan </a:t>
            </a:r>
            <a:r>
              <a:rPr lang="en-ID" sz="1400" dirty="0" err="1">
                <a:latin typeface="Calibri"/>
                <a:cs typeface="Calibri"/>
              </a:rPr>
              <a:t>relasi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rekurensi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serta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menguasai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teknik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baku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dalam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menyelesaikan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masalah-masalah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matematika</a:t>
            </a:r>
            <a:r>
              <a:rPr lang="en-ID" sz="1400" dirty="0">
                <a:latin typeface="Calibri"/>
                <a:cs typeface="Calibri"/>
              </a:rPr>
              <a:t> yang </a:t>
            </a:r>
            <a:r>
              <a:rPr lang="en-ID" sz="1400" dirty="0" err="1">
                <a:latin typeface="Calibri"/>
                <a:cs typeface="Calibri"/>
              </a:rPr>
              <a:t>terkait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dengan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hal-hal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tersebut</a:t>
            </a:r>
            <a:r>
              <a:rPr lang="en-ID" sz="1400" dirty="0">
                <a:latin typeface="Calibri"/>
                <a:cs typeface="Calibri"/>
              </a:rPr>
              <a:t>.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  <a:p>
            <a:pPr marL="157480" marR="34925" indent="-120014">
              <a:lnSpc>
                <a:spcPct val="106700"/>
              </a:lnSpc>
              <a:spcBef>
                <a:spcPts val="30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sz="1400" dirty="0">
                <a:latin typeface="Calibri"/>
                <a:cs typeface="Calibri"/>
              </a:rPr>
              <a:t>Sub-CLO-0</a:t>
            </a:r>
            <a:r>
              <a:rPr lang="en-US" sz="1400" dirty="0">
                <a:latin typeface="Calibri"/>
                <a:cs typeface="Calibri"/>
              </a:rPr>
              <a:t>3</a:t>
            </a:r>
            <a:r>
              <a:rPr sz="1400" dirty="0">
                <a:latin typeface="Calibri"/>
                <a:cs typeface="Calibri"/>
              </a:rPr>
              <a:t>-1-2</a:t>
            </a:r>
            <a:r>
              <a:rPr lang="en-US" sz="1400" dirty="0">
                <a:latin typeface="Calibri"/>
                <a:cs typeface="Calibri"/>
              </a:rPr>
              <a:t>:</a:t>
            </a:r>
            <a:r>
              <a:rPr sz="1400" spc="38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Mahasiswa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memiliki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kemampuan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dalam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mengidentifikasi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masalah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kombinatorika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dasar</a:t>
            </a:r>
            <a:r>
              <a:rPr lang="en-ID" sz="1400" dirty="0">
                <a:latin typeface="Calibri"/>
                <a:cs typeface="Calibri"/>
              </a:rPr>
              <a:t> dan </a:t>
            </a:r>
            <a:r>
              <a:rPr lang="en-ID" sz="1400" dirty="0" err="1">
                <a:latin typeface="Calibri"/>
                <a:cs typeface="Calibri"/>
              </a:rPr>
              <a:t>menguasai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metode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matematis</a:t>
            </a:r>
            <a:r>
              <a:rPr lang="en-ID" sz="1400" dirty="0">
                <a:latin typeface="Calibri"/>
                <a:cs typeface="Calibri"/>
              </a:rPr>
              <a:t> yang </a:t>
            </a:r>
            <a:r>
              <a:rPr lang="en-ID" sz="1400" dirty="0" err="1">
                <a:latin typeface="Calibri"/>
                <a:cs typeface="Calibri"/>
              </a:rPr>
              <a:t>sesuai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untuk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menyelesaikan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masalah-masalah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tersebut</a:t>
            </a:r>
            <a:r>
              <a:rPr lang="en-ID" sz="1400" dirty="0"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Sub</a:t>
            </a:r>
            <a:r>
              <a:rPr spc="185" dirty="0"/>
              <a:t> </a:t>
            </a:r>
            <a:r>
              <a:rPr dirty="0"/>
              <a:t>-</a:t>
            </a:r>
            <a:r>
              <a:rPr spc="180" dirty="0"/>
              <a:t> </a:t>
            </a:r>
            <a:r>
              <a:rPr spc="130" dirty="0"/>
              <a:t>CLO</a:t>
            </a:r>
            <a:r>
              <a:rPr spc="180" dirty="0"/>
              <a:t> </a:t>
            </a:r>
            <a:r>
              <a:rPr spc="-10" dirty="0"/>
              <a:t>(lanjutan)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8622" y="636867"/>
            <a:ext cx="3790950" cy="233596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7480" marR="30480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sz="1400" dirty="0">
                <a:latin typeface="Calibri"/>
                <a:cs typeface="Calibri"/>
              </a:rPr>
              <a:t>Sub-CLO-03-</a:t>
            </a:r>
            <a:r>
              <a:rPr lang="en-US" sz="1400" dirty="0">
                <a:latin typeface="Calibri"/>
                <a:cs typeface="Calibri"/>
              </a:rPr>
              <a:t>3</a:t>
            </a:r>
            <a:r>
              <a:rPr sz="1400" dirty="0">
                <a:latin typeface="Calibri"/>
                <a:cs typeface="Calibri"/>
              </a:rPr>
              <a:t>-</a:t>
            </a:r>
            <a:r>
              <a:rPr lang="en-US" sz="1400" dirty="0">
                <a:latin typeface="Calibri"/>
                <a:cs typeface="Calibri"/>
              </a:rPr>
              <a:t>3:</a:t>
            </a:r>
            <a:r>
              <a:rPr sz="1400" spc="38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Mahasiswa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mampu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mengidentifikasi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karakteristik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graf</a:t>
            </a:r>
            <a:r>
              <a:rPr lang="en-ID" sz="1400" dirty="0">
                <a:latin typeface="Calibri"/>
                <a:cs typeface="Calibri"/>
              </a:rPr>
              <a:t> dan </a:t>
            </a:r>
            <a:r>
              <a:rPr lang="en-ID" sz="1400" dirty="0" err="1">
                <a:latin typeface="Calibri"/>
                <a:cs typeface="Calibri"/>
              </a:rPr>
              <a:t>pohon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serta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mendemonstrasikan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algoritma</a:t>
            </a:r>
            <a:r>
              <a:rPr lang="en-ID" sz="1400" dirty="0">
                <a:latin typeface="Calibri"/>
                <a:cs typeface="Calibri"/>
              </a:rPr>
              <a:t> yang </a:t>
            </a:r>
            <a:r>
              <a:rPr lang="en-ID" sz="1400" dirty="0" err="1">
                <a:latin typeface="Calibri"/>
                <a:cs typeface="Calibri"/>
              </a:rPr>
              <a:t>terkait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dengan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struktur-struktur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tersebut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  <a:p>
            <a:pPr marL="157480" marR="141605" indent="-120014">
              <a:lnSpc>
                <a:spcPct val="106700"/>
              </a:lnSpc>
              <a:spcBef>
                <a:spcPts val="30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sz="1400" dirty="0">
                <a:latin typeface="Calibri"/>
                <a:cs typeface="Calibri"/>
              </a:rPr>
              <a:t>Sub-CLO-03-</a:t>
            </a:r>
            <a:r>
              <a:rPr lang="en-US" sz="1400" dirty="0">
                <a:latin typeface="Calibri"/>
                <a:cs typeface="Calibri"/>
              </a:rPr>
              <a:t>3</a:t>
            </a:r>
            <a:r>
              <a:rPr sz="1400" dirty="0">
                <a:latin typeface="Calibri"/>
                <a:cs typeface="Calibri"/>
              </a:rPr>
              <a:t>-</a:t>
            </a:r>
            <a:r>
              <a:rPr lang="en-US" sz="1400" dirty="0">
                <a:latin typeface="Calibri"/>
                <a:cs typeface="Calibri"/>
              </a:rPr>
              <a:t>4:</a:t>
            </a:r>
            <a:r>
              <a:rPr sz="1400" spc="38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Mahasiswa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mampu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melakukan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kalkulasi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terkait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teori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bilangan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elementer</a:t>
            </a:r>
            <a:r>
              <a:rPr lang="en-ID" sz="1400" dirty="0">
                <a:latin typeface="Calibri"/>
                <a:cs typeface="Calibri"/>
              </a:rPr>
              <a:t>, </a:t>
            </a:r>
            <a:r>
              <a:rPr lang="en-ID" sz="1400" dirty="0" err="1">
                <a:latin typeface="Calibri"/>
                <a:cs typeface="Calibri"/>
              </a:rPr>
              <a:t>seperti</a:t>
            </a:r>
            <a:r>
              <a:rPr lang="en-ID" sz="1400" dirty="0">
                <a:latin typeface="Calibri"/>
                <a:cs typeface="Calibri"/>
              </a:rPr>
              <a:t>: </a:t>
            </a:r>
            <a:r>
              <a:rPr lang="en-ID" sz="1400" dirty="0" err="1">
                <a:latin typeface="Calibri"/>
                <a:cs typeface="Calibri"/>
              </a:rPr>
              <a:t>kalkulasi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faktor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persekutuan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terbesar</a:t>
            </a:r>
            <a:r>
              <a:rPr lang="en-ID" sz="1400" dirty="0">
                <a:latin typeface="Calibri"/>
                <a:cs typeface="Calibri"/>
              </a:rPr>
              <a:t>, </a:t>
            </a:r>
            <a:r>
              <a:rPr lang="en-ID" sz="1400" dirty="0" err="1">
                <a:latin typeface="Calibri"/>
                <a:cs typeface="Calibri"/>
              </a:rPr>
              <a:t>kelipatan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persekutuan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terkecil</a:t>
            </a:r>
            <a:r>
              <a:rPr lang="en-ID" sz="1400" dirty="0">
                <a:latin typeface="Calibri"/>
                <a:cs typeface="Calibri"/>
              </a:rPr>
              <a:t>, </a:t>
            </a:r>
            <a:r>
              <a:rPr lang="en-ID" sz="1400" dirty="0" err="1">
                <a:latin typeface="Calibri"/>
                <a:cs typeface="Calibri"/>
              </a:rPr>
              <a:t>menerapkan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algoritma</a:t>
            </a:r>
            <a:r>
              <a:rPr lang="en-ID" sz="1400" dirty="0">
                <a:latin typeface="Calibri"/>
                <a:cs typeface="Calibri"/>
              </a:rPr>
              <a:t> Euclid, dan </a:t>
            </a:r>
            <a:r>
              <a:rPr lang="en-ID" sz="1400" dirty="0" err="1">
                <a:latin typeface="Calibri"/>
                <a:cs typeface="Calibri"/>
              </a:rPr>
              <a:t>melakukan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operasi</a:t>
            </a:r>
            <a:r>
              <a:rPr lang="en-ID" sz="1400" dirty="0">
                <a:latin typeface="Calibri"/>
                <a:cs typeface="Calibri"/>
              </a:rPr>
              <a:t> </a:t>
            </a:r>
            <a:r>
              <a:rPr lang="en-ID" sz="1400" dirty="0" err="1">
                <a:latin typeface="Calibri"/>
                <a:cs typeface="Calibri"/>
              </a:rPr>
              <a:t>aritmetika</a:t>
            </a:r>
            <a:r>
              <a:rPr lang="en-ID" sz="1400" dirty="0">
                <a:latin typeface="Calibri"/>
                <a:cs typeface="Calibri"/>
              </a:rPr>
              <a:t> modular </a:t>
            </a:r>
            <a:r>
              <a:rPr lang="en-ID" sz="1400" dirty="0" err="1">
                <a:latin typeface="Calibri"/>
                <a:cs typeface="Calibri"/>
              </a:rPr>
              <a:t>elementer</a:t>
            </a:r>
            <a:r>
              <a:rPr lang="en-ID" sz="1400" dirty="0"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25" dirty="0"/>
              <a:t>Materi</a:t>
            </a:r>
            <a:r>
              <a:rPr spc="-15" dirty="0"/>
              <a:t> </a:t>
            </a:r>
            <a:r>
              <a:rPr dirty="0" err="1"/>
              <a:t>Setiap</a:t>
            </a:r>
            <a:r>
              <a:rPr spc="-15" dirty="0"/>
              <a:t> </a:t>
            </a:r>
            <a:r>
              <a:rPr lang="en-US" spc="-20" dirty="0"/>
              <a:t>Pekan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286101" y="584002"/>
            <a:ext cx="3816985" cy="280012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dirty="0">
                <a:latin typeface="Calibri"/>
                <a:cs typeface="Calibri"/>
              </a:rPr>
              <a:t>Materi</a:t>
            </a:r>
            <a:r>
              <a:rPr sz="900" b="1" spc="135" dirty="0">
                <a:latin typeface="Calibri"/>
                <a:cs typeface="Calibri"/>
              </a:rPr>
              <a:t> </a:t>
            </a:r>
            <a:r>
              <a:rPr lang="en-US" sz="900" b="1" dirty="0">
                <a:latin typeface="Calibri"/>
                <a:cs typeface="Calibri"/>
              </a:rPr>
              <a:t>pekan</a:t>
            </a:r>
            <a:r>
              <a:rPr sz="900" b="1" spc="140" dirty="0">
                <a:latin typeface="Calibri"/>
                <a:cs typeface="Calibri"/>
              </a:rPr>
              <a:t> </a:t>
            </a:r>
            <a:r>
              <a:rPr sz="900" b="1" dirty="0">
                <a:latin typeface="Calibri"/>
                <a:cs typeface="Calibri"/>
              </a:rPr>
              <a:t>ke-</a:t>
            </a:r>
            <a:r>
              <a:rPr sz="900" b="1" spc="140" dirty="0">
                <a:latin typeface="Calibri"/>
                <a:cs typeface="Calibri"/>
              </a:rPr>
              <a:t> </a:t>
            </a:r>
            <a:r>
              <a:rPr sz="900" b="1" spc="-50" dirty="0">
                <a:latin typeface="Calibri"/>
                <a:cs typeface="Calibri"/>
              </a:rPr>
              <a:t>:</a:t>
            </a:r>
            <a:endParaRPr sz="900" b="1" dirty="0">
              <a:latin typeface="Calibri"/>
              <a:cs typeface="Calibri"/>
            </a:endParaRPr>
          </a:p>
          <a:p>
            <a:r>
              <a:rPr lang="en-ID" sz="800" dirty="0"/>
              <a:t>1. </a:t>
            </a:r>
            <a:r>
              <a:rPr lang="en-ID" sz="800" dirty="0" err="1"/>
              <a:t>Relasi</a:t>
            </a:r>
            <a:r>
              <a:rPr lang="en-ID" sz="800" dirty="0"/>
              <a:t> 1: </a:t>
            </a:r>
            <a:r>
              <a:rPr lang="en-ID" sz="800" dirty="0" err="1"/>
              <a:t>produk</a:t>
            </a:r>
            <a:r>
              <a:rPr lang="en-ID" sz="800" dirty="0"/>
              <a:t> </a:t>
            </a:r>
            <a:r>
              <a:rPr lang="en-ID" sz="800" dirty="0" err="1"/>
              <a:t>kartesius</a:t>
            </a:r>
            <a:r>
              <a:rPr lang="en-ID" sz="800" dirty="0"/>
              <a:t>, </a:t>
            </a:r>
            <a:r>
              <a:rPr lang="en-ID" sz="800" dirty="0" err="1"/>
              <a:t>relasi</a:t>
            </a:r>
            <a:r>
              <a:rPr lang="en-ID" sz="800" dirty="0"/>
              <a:t> biner dan </a:t>
            </a:r>
            <a:r>
              <a:rPr lang="en-ID" sz="800" dirty="0" err="1"/>
              <a:t>representasinya</a:t>
            </a:r>
            <a:r>
              <a:rPr lang="en-ID" sz="800" dirty="0"/>
              <a:t> (</a:t>
            </a:r>
            <a:r>
              <a:rPr lang="en-ID" sz="800" dirty="0" err="1"/>
              <a:t>dengan</a:t>
            </a:r>
            <a:r>
              <a:rPr lang="en-ID" sz="800" dirty="0"/>
              <a:t> </a:t>
            </a:r>
            <a:r>
              <a:rPr lang="en-ID" sz="800" dirty="0" err="1"/>
              <a:t>matriks</a:t>
            </a:r>
            <a:r>
              <a:rPr lang="en-ID" sz="800" dirty="0"/>
              <a:t> dan </a:t>
            </a:r>
            <a:r>
              <a:rPr lang="en-ID" sz="800" dirty="0" err="1"/>
              <a:t>digraf</a:t>
            </a:r>
            <a:r>
              <a:rPr lang="en-ID" sz="800" dirty="0"/>
              <a:t>).</a:t>
            </a:r>
          </a:p>
          <a:p>
            <a:r>
              <a:rPr lang="en-ID" sz="800" dirty="0"/>
              <a:t>2. </a:t>
            </a:r>
            <a:r>
              <a:rPr lang="en-ID" sz="800" dirty="0" err="1"/>
              <a:t>Relasi</a:t>
            </a:r>
            <a:r>
              <a:rPr lang="en-ID" sz="800" dirty="0"/>
              <a:t> 2: </a:t>
            </a:r>
            <a:r>
              <a:rPr lang="en-ID" sz="800" dirty="0" err="1"/>
              <a:t>sifat-sifat</a:t>
            </a:r>
            <a:r>
              <a:rPr lang="en-ID" sz="800" dirty="0"/>
              <a:t> </a:t>
            </a:r>
            <a:r>
              <a:rPr lang="en-ID" sz="800" dirty="0" err="1"/>
              <a:t>relasi</a:t>
            </a:r>
            <a:r>
              <a:rPr lang="en-ID" sz="800" dirty="0"/>
              <a:t> biner (</a:t>
            </a:r>
            <a:r>
              <a:rPr lang="en-ID" sz="800" dirty="0" err="1"/>
              <a:t>refleksif</a:t>
            </a:r>
            <a:r>
              <a:rPr lang="en-ID" sz="800" dirty="0"/>
              <a:t>, </a:t>
            </a:r>
            <a:r>
              <a:rPr lang="en-ID" sz="800" dirty="0" err="1"/>
              <a:t>irefleksif</a:t>
            </a:r>
            <a:r>
              <a:rPr lang="en-ID" sz="800" dirty="0"/>
              <a:t>, </a:t>
            </a:r>
            <a:r>
              <a:rPr lang="en-ID" sz="800" dirty="0" err="1"/>
              <a:t>simetris</a:t>
            </a:r>
            <a:r>
              <a:rPr lang="en-ID" sz="800" dirty="0"/>
              <a:t>, </a:t>
            </a:r>
            <a:r>
              <a:rPr lang="en-ID" sz="800" dirty="0" err="1"/>
              <a:t>antisimetris</a:t>
            </a:r>
            <a:r>
              <a:rPr lang="en-ID" sz="800" dirty="0"/>
              <a:t>, </a:t>
            </a:r>
            <a:r>
              <a:rPr lang="en-ID" sz="800" dirty="0" err="1"/>
              <a:t>asimetris</a:t>
            </a:r>
            <a:r>
              <a:rPr lang="en-ID" sz="800" dirty="0"/>
              <a:t>, dan </a:t>
            </a:r>
            <a:r>
              <a:rPr lang="en-ID" sz="800" dirty="0" err="1"/>
              <a:t>transitif</a:t>
            </a:r>
            <a:r>
              <a:rPr lang="en-ID" sz="800" dirty="0"/>
              <a:t>), dan </a:t>
            </a:r>
            <a:r>
              <a:rPr lang="en-ID" sz="800" dirty="0" err="1"/>
              <a:t>relasi</a:t>
            </a:r>
            <a:r>
              <a:rPr lang="en-ID" sz="800" dirty="0"/>
              <a:t> </a:t>
            </a:r>
            <a:r>
              <a:rPr lang="en-ID" sz="800" dirty="0" err="1"/>
              <a:t>komposisi</a:t>
            </a:r>
            <a:r>
              <a:rPr lang="en-ID" sz="800" dirty="0"/>
              <a:t>.</a:t>
            </a:r>
          </a:p>
          <a:p>
            <a:r>
              <a:rPr lang="en-ID" sz="800" dirty="0"/>
              <a:t>3. </a:t>
            </a:r>
            <a:r>
              <a:rPr lang="en-ID" sz="800" dirty="0" err="1"/>
              <a:t>Fungsi</a:t>
            </a:r>
            <a:r>
              <a:rPr lang="en-ID" sz="800" dirty="0"/>
              <a:t>: </a:t>
            </a:r>
            <a:r>
              <a:rPr lang="en-ID" sz="800" dirty="0" err="1"/>
              <a:t>definisi</a:t>
            </a:r>
            <a:r>
              <a:rPr lang="en-ID" sz="800" dirty="0"/>
              <a:t> dan </a:t>
            </a:r>
            <a:r>
              <a:rPr lang="en-ID" sz="800" dirty="0" err="1"/>
              <a:t>representasi</a:t>
            </a:r>
            <a:r>
              <a:rPr lang="en-ID" sz="800" dirty="0"/>
              <a:t> </a:t>
            </a:r>
            <a:r>
              <a:rPr lang="en-ID" sz="800" dirty="0" err="1"/>
              <a:t>fungsi</a:t>
            </a:r>
            <a:r>
              <a:rPr lang="en-ID" sz="800" dirty="0"/>
              <a:t>, </a:t>
            </a:r>
            <a:r>
              <a:rPr lang="en-ID" sz="800" dirty="0" err="1"/>
              <a:t>sifat-sifat</a:t>
            </a:r>
            <a:r>
              <a:rPr lang="en-ID" sz="800" dirty="0"/>
              <a:t> </a:t>
            </a:r>
            <a:r>
              <a:rPr lang="en-ID" sz="800" dirty="0" err="1"/>
              <a:t>fungsi</a:t>
            </a:r>
            <a:r>
              <a:rPr lang="en-ID" sz="800" dirty="0"/>
              <a:t> total (</a:t>
            </a:r>
            <a:r>
              <a:rPr lang="en-ID" sz="800" dirty="0" err="1"/>
              <a:t>injektif</a:t>
            </a:r>
            <a:r>
              <a:rPr lang="en-ID" sz="800" dirty="0"/>
              <a:t>, </a:t>
            </a:r>
            <a:r>
              <a:rPr lang="en-ID" sz="800" dirty="0" err="1"/>
              <a:t>surjektif</a:t>
            </a:r>
            <a:r>
              <a:rPr lang="en-ID" sz="800" dirty="0"/>
              <a:t>, dan </a:t>
            </a:r>
            <a:r>
              <a:rPr lang="en-ID" sz="800" dirty="0" err="1"/>
              <a:t>bijektif</a:t>
            </a:r>
            <a:r>
              <a:rPr lang="en-ID" sz="800" dirty="0"/>
              <a:t>), </a:t>
            </a:r>
            <a:r>
              <a:rPr lang="en-ID" sz="800" dirty="0" err="1"/>
              <a:t>komposisi</a:t>
            </a:r>
            <a:r>
              <a:rPr lang="en-ID" sz="800" dirty="0"/>
              <a:t> </a:t>
            </a:r>
            <a:r>
              <a:rPr lang="en-ID" sz="800" dirty="0" err="1"/>
              <a:t>fungsi</a:t>
            </a:r>
            <a:r>
              <a:rPr lang="en-ID" sz="800" dirty="0"/>
              <a:t>, </a:t>
            </a:r>
            <a:r>
              <a:rPr lang="en-ID" sz="800" dirty="0" err="1"/>
              <a:t>fungsi</a:t>
            </a:r>
            <a:r>
              <a:rPr lang="en-ID" sz="800" dirty="0"/>
              <a:t> invers, </a:t>
            </a:r>
            <a:r>
              <a:rPr lang="en-ID" sz="800" dirty="0" err="1"/>
              <a:t>serta</a:t>
            </a:r>
            <a:r>
              <a:rPr lang="en-ID" sz="800" dirty="0"/>
              <a:t> </a:t>
            </a:r>
            <a:r>
              <a:rPr lang="en-ID" sz="800" dirty="0" err="1"/>
              <a:t>fungsi</a:t>
            </a:r>
            <a:r>
              <a:rPr lang="en-ID" sz="800" dirty="0"/>
              <a:t> </a:t>
            </a:r>
            <a:r>
              <a:rPr lang="en-ID" sz="800" dirty="0" err="1"/>
              <a:t>lantai</a:t>
            </a:r>
            <a:r>
              <a:rPr lang="en-ID" sz="800" dirty="0"/>
              <a:t> (</a:t>
            </a:r>
            <a:r>
              <a:rPr lang="en-ID" sz="800" i="1" dirty="0"/>
              <a:t>floor</a:t>
            </a:r>
            <a:r>
              <a:rPr lang="en-ID" sz="800" dirty="0"/>
              <a:t>) dan atap (</a:t>
            </a:r>
            <a:r>
              <a:rPr lang="en-ID" sz="800" i="1" dirty="0"/>
              <a:t>ceiling</a:t>
            </a:r>
            <a:r>
              <a:rPr lang="en-ID" sz="800" dirty="0"/>
              <a:t>).</a:t>
            </a:r>
          </a:p>
          <a:p>
            <a:r>
              <a:rPr lang="en-ID" sz="800" dirty="0"/>
              <a:t>4. </a:t>
            </a:r>
            <a:r>
              <a:rPr lang="en-ID" sz="800" dirty="0" err="1"/>
              <a:t>Relasi</a:t>
            </a:r>
            <a:r>
              <a:rPr lang="en-ID" sz="800" dirty="0"/>
              <a:t> </a:t>
            </a:r>
            <a:r>
              <a:rPr lang="en-ID" sz="800" dirty="0" err="1"/>
              <a:t>Rekurensi</a:t>
            </a:r>
            <a:r>
              <a:rPr lang="en-ID" sz="800" dirty="0"/>
              <a:t>: </a:t>
            </a:r>
            <a:r>
              <a:rPr lang="en-ID" sz="800" dirty="0" err="1"/>
              <a:t>definisi</a:t>
            </a:r>
            <a:r>
              <a:rPr lang="en-ID" sz="800" dirty="0"/>
              <a:t> </a:t>
            </a:r>
            <a:r>
              <a:rPr lang="en-ID" sz="800" dirty="0" err="1"/>
              <a:t>relasi</a:t>
            </a:r>
            <a:r>
              <a:rPr lang="en-ID" sz="800" dirty="0"/>
              <a:t> </a:t>
            </a:r>
            <a:r>
              <a:rPr lang="en-ID" sz="800" dirty="0" err="1"/>
              <a:t>rekurensi</a:t>
            </a:r>
            <a:r>
              <a:rPr lang="en-ID" sz="800" dirty="0"/>
              <a:t> dan </a:t>
            </a:r>
            <a:r>
              <a:rPr lang="en-ID" sz="800" dirty="0" err="1"/>
              <a:t>solusinya</a:t>
            </a:r>
            <a:r>
              <a:rPr lang="en-ID" sz="800" dirty="0"/>
              <a:t>, </a:t>
            </a:r>
            <a:r>
              <a:rPr lang="en-ID" sz="800" dirty="0" err="1"/>
              <a:t>pemodelan</a:t>
            </a:r>
            <a:r>
              <a:rPr lang="en-ID" sz="800" dirty="0"/>
              <a:t> </a:t>
            </a:r>
            <a:r>
              <a:rPr lang="en-ID" sz="800" dirty="0" err="1"/>
              <a:t>sederhana</a:t>
            </a:r>
            <a:r>
              <a:rPr lang="en-ID" sz="800" dirty="0"/>
              <a:t> </a:t>
            </a:r>
            <a:r>
              <a:rPr lang="en-ID" sz="800" dirty="0" err="1"/>
              <a:t>untuk</a:t>
            </a:r>
            <a:r>
              <a:rPr lang="en-ID" sz="800" dirty="0"/>
              <a:t> </a:t>
            </a:r>
            <a:r>
              <a:rPr lang="en-ID" sz="800" dirty="0" err="1"/>
              <a:t>relasi</a:t>
            </a:r>
            <a:r>
              <a:rPr lang="en-ID" sz="800" dirty="0"/>
              <a:t> </a:t>
            </a:r>
            <a:r>
              <a:rPr lang="en-ID" sz="800" dirty="0" err="1"/>
              <a:t>rekurensi</a:t>
            </a:r>
            <a:r>
              <a:rPr lang="en-ID" sz="800" dirty="0"/>
              <a:t>, </a:t>
            </a:r>
            <a:r>
              <a:rPr lang="en-ID" sz="800" dirty="0" err="1"/>
              <a:t>serta</a:t>
            </a:r>
            <a:r>
              <a:rPr lang="en-ID" sz="800" dirty="0"/>
              <a:t> </a:t>
            </a:r>
            <a:r>
              <a:rPr lang="en-ID" sz="800" dirty="0" err="1"/>
              <a:t>solusi</a:t>
            </a:r>
            <a:r>
              <a:rPr lang="en-ID" sz="800" dirty="0"/>
              <a:t> </a:t>
            </a:r>
            <a:r>
              <a:rPr lang="en-ID" sz="800" dirty="0" err="1"/>
              <a:t>umum</a:t>
            </a:r>
            <a:r>
              <a:rPr lang="en-ID" sz="800" dirty="0"/>
              <a:t> </a:t>
            </a:r>
            <a:r>
              <a:rPr lang="en-ID" sz="800" dirty="0" err="1"/>
              <a:t>dari</a:t>
            </a:r>
            <a:r>
              <a:rPr lang="en-ID" sz="800" dirty="0"/>
              <a:t> </a:t>
            </a:r>
            <a:r>
              <a:rPr lang="en-ID" sz="800" dirty="0" err="1"/>
              <a:t>relasi</a:t>
            </a:r>
            <a:r>
              <a:rPr lang="en-ID" sz="800" dirty="0"/>
              <a:t> </a:t>
            </a:r>
            <a:r>
              <a:rPr lang="en-ID" sz="800" dirty="0" err="1"/>
              <a:t>rekurensi</a:t>
            </a:r>
            <a:r>
              <a:rPr lang="en-ID" sz="800" dirty="0"/>
              <a:t> linier </a:t>
            </a:r>
            <a:r>
              <a:rPr lang="en-ID" sz="800" dirty="0" err="1"/>
              <a:t>berkoefisien</a:t>
            </a:r>
            <a:r>
              <a:rPr lang="en-ID" sz="800" dirty="0"/>
              <a:t> </a:t>
            </a:r>
            <a:r>
              <a:rPr lang="en-ID" sz="800" dirty="0" err="1"/>
              <a:t>konstan</a:t>
            </a:r>
            <a:r>
              <a:rPr lang="en-ID" sz="800" dirty="0"/>
              <a:t>.</a:t>
            </a:r>
          </a:p>
          <a:p>
            <a:r>
              <a:rPr lang="en-ID" sz="800" dirty="0"/>
              <a:t>5. Teknik </a:t>
            </a:r>
            <a:r>
              <a:rPr lang="en-ID" sz="800" dirty="0" err="1"/>
              <a:t>Berhitung</a:t>
            </a:r>
            <a:r>
              <a:rPr lang="en-ID" sz="800" dirty="0"/>
              <a:t> (</a:t>
            </a:r>
            <a:r>
              <a:rPr lang="en-ID" sz="800" dirty="0" err="1"/>
              <a:t>Pencacahan</a:t>
            </a:r>
            <a:r>
              <a:rPr lang="en-ID" sz="800" dirty="0"/>
              <a:t>) Dasar: </a:t>
            </a:r>
            <a:r>
              <a:rPr lang="en-ID" sz="800" dirty="0" err="1"/>
              <a:t>relevansi</a:t>
            </a:r>
            <a:r>
              <a:rPr lang="en-ID" sz="800" dirty="0"/>
              <a:t> </a:t>
            </a:r>
            <a:r>
              <a:rPr lang="en-ID" sz="800" dirty="0" err="1"/>
              <a:t>kombinatorika</a:t>
            </a:r>
            <a:r>
              <a:rPr lang="en-ID" sz="800" dirty="0"/>
              <a:t> </a:t>
            </a:r>
            <a:r>
              <a:rPr lang="en-ID" sz="800" dirty="0" err="1"/>
              <a:t>dalam</a:t>
            </a:r>
            <a:r>
              <a:rPr lang="en-ID" sz="800" dirty="0"/>
              <a:t> </a:t>
            </a:r>
            <a:r>
              <a:rPr lang="en-ID" sz="800" dirty="0" err="1"/>
              <a:t>ilmu</a:t>
            </a:r>
            <a:r>
              <a:rPr lang="en-ID" sz="800" dirty="0"/>
              <a:t> computer, </a:t>
            </a:r>
            <a:r>
              <a:rPr lang="en-ID" sz="800" dirty="0" err="1"/>
              <a:t>aturan</a:t>
            </a:r>
            <a:r>
              <a:rPr lang="en-ID" sz="800" dirty="0"/>
              <a:t> </a:t>
            </a:r>
            <a:r>
              <a:rPr lang="en-ID" sz="800" dirty="0" err="1"/>
              <a:t>penjumlahan</a:t>
            </a:r>
            <a:r>
              <a:rPr lang="en-ID" sz="800" dirty="0"/>
              <a:t> dan </a:t>
            </a:r>
            <a:r>
              <a:rPr lang="en-ID" sz="800" dirty="0" err="1"/>
              <a:t>penerapannya</a:t>
            </a:r>
            <a:r>
              <a:rPr lang="en-ID" sz="800" dirty="0"/>
              <a:t>, </a:t>
            </a:r>
            <a:r>
              <a:rPr lang="en-ID" sz="800" dirty="0" err="1"/>
              <a:t>aturan</a:t>
            </a:r>
            <a:r>
              <a:rPr lang="en-ID" sz="800" dirty="0"/>
              <a:t> </a:t>
            </a:r>
            <a:r>
              <a:rPr lang="en-ID" sz="800" dirty="0" err="1"/>
              <a:t>perkalian</a:t>
            </a:r>
            <a:r>
              <a:rPr lang="en-ID" sz="800" dirty="0"/>
              <a:t> dan </a:t>
            </a:r>
            <a:r>
              <a:rPr lang="en-ID" sz="800" dirty="0" err="1"/>
              <a:t>penerapannya</a:t>
            </a:r>
            <a:r>
              <a:rPr lang="en-ID" sz="800" dirty="0"/>
              <a:t>, </a:t>
            </a:r>
            <a:r>
              <a:rPr lang="en-ID" sz="800" dirty="0" err="1"/>
              <a:t>aturan</a:t>
            </a:r>
            <a:r>
              <a:rPr lang="en-ID" sz="800" dirty="0"/>
              <a:t> </a:t>
            </a:r>
            <a:r>
              <a:rPr lang="en-ID" sz="800" dirty="0" err="1"/>
              <a:t>pengurangan</a:t>
            </a:r>
            <a:r>
              <a:rPr lang="en-ID" sz="800" dirty="0"/>
              <a:t> (</a:t>
            </a:r>
            <a:r>
              <a:rPr lang="en-ID" sz="800" dirty="0" err="1"/>
              <a:t>prinsip</a:t>
            </a:r>
            <a:r>
              <a:rPr lang="en-ID" sz="800" dirty="0"/>
              <a:t> </a:t>
            </a:r>
            <a:r>
              <a:rPr lang="en-ID" sz="800" dirty="0" err="1"/>
              <a:t>inklusi-eksklusi</a:t>
            </a:r>
            <a:r>
              <a:rPr lang="en-ID" sz="800" dirty="0"/>
              <a:t>) dan </a:t>
            </a:r>
            <a:r>
              <a:rPr lang="en-ID" sz="800" dirty="0" err="1"/>
              <a:t>penerapannya</a:t>
            </a:r>
            <a:r>
              <a:rPr lang="en-ID" sz="800" dirty="0"/>
              <a:t>, </a:t>
            </a:r>
            <a:r>
              <a:rPr lang="en-ID" sz="800" dirty="0" err="1"/>
              <a:t>serta</a:t>
            </a:r>
            <a:r>
              <a:rPr lang="en-ID" sz="800" dirty="0"/>
              <a:t> </a:t>
            </a:r>
            <a:r>
              <a:rPr lang="en-ID" sz="800" dirty="0" err="1"/>
              <a:t>aturan</a:t>
            </a:r>
            <a:r>
              <a:rPr lang="en-ID" sz="800" dirty="0"/>
              <a:t> </a:t>
            </a:r>
            <a:r>
              <a:rPr lang="en-ID" sz="800" dirty="0" err="1"/>
              <a:t>pembagian</a:t>
            </a:r>
            <a:r>
              <a:rPr lang="en-ID" sz="800" dirty="0"/>
              <a:t> dan </a:t>
            </a:r>
            <a:r>
              <a:rPr lang="en-ID" sz="800" dirty="0" err="1"/>
              <a:t>penerapannya</a:t>
            </a:r>
            <a:r>
              <a:rPr lang="en-ID" sz="800" dirty="0"/>
              <a:t>.</a:t>
            </a:r>
          </a:p>
          <a:p>
            <a:r>
              <a:rPr lang="en-ID" sz="800" dirty="0"/>
              <a:t>6. </a:t>
            </a:r>
            <a:r>
              <a:rPr lang="en-ID" sz="800" dirty="0" err="1"/>
              <a:t>Prinsip</a:t>
            </a:r>
            <a:r>
              <a:rPr lang="en-ID" sz="800" dirty="0"/>
              <a:t> Sarang Merpati: </a:t>
            </a:r>
            <a:r>
              <a:rPr lang="en-ID" sz="800" dirty="0" err="1"/>
              <a:t>definisi</a:t>
            </a:r>
            <a:r>
              <a:rPr lang="en-ID" sz="800" dirty="0"/>
              <a:t> </a:t>
            </a:r>
            <a:r>
              <a:rPr lang="en-ID" sz="800" dirty="0" err="1"/>
              <a:t>prinsip</a:t>
            </a:r>
            <a:r>
              <a:rPr lang="en-ID" sz="800" dirty="0"/>
              <a:t> </a:t>
            </a:r>
            <a:r>
              <a:rPr lang="en-ID" sz="800" dirty="0" err="1"/>
              <a:t>sarang</a:t>
            </a:r>
            <a:r>
              <a:rPr lang="en-ID" sz="800" dirty="0"/>
              <a:t> </a:t>
            </a:r>
            <a:r>
              <a:rPr lang="en-ID" sz="800" dirty="0" err="1"/>
              <a:t>merpati</a:t>
            </a:r>
            <a:r>
              <a:rPr lang="en-ID" sz="800" dirty="0"/>
              <a:t>, </a:t>
            </a:r>
            <a:r>
              <a:rPr lang="en-ID" sz="800" dirty="0" err="1"/>
              <a:t>penerapan</a:t>
            </a:r>
            <a:r>
              <a:rPr lang="en-ID" sz="800" dirty="0"/>
              <a:t> </a:t>
            </a:r>
            <a:r>
              <a:rPr lang="en-ID" sz="800" dirty="0" err="1"/>
              <a:t>prinsip</a:t>
            </a:r>
            <a:r>
              <a:rPr lang="en-ID" sz="800" dirty="0"/>
              <a:t> </a:t>
            </a:r>
            <a:r>
              <a:rPr lang="en-ID" sz="800" dirty="0" err="1"/>
              <a:t>sarang</a:t>
            </a:r>
            <a:r>
              <a:rPr lang="en-ID" sz="800" dirty="0"/>
              <a:t> </a:t>
            </a:r>
            <a:r>
              <a:rPr lang="en-ID" sz="800" dirty="0" err="1"/>
              <a:t>merpati</a:t>
            </a:r>
            <a:r>
              <a:rPr lang="en-ID" sz="800" dirty="0"/>
              <a:t>, dan </a:t>
            </a:r>
            <a:r>
              <a:rPr lang="en-ID" sz="800" dirty="0" err="1"/>
              <a:t>penyelesaian</a:t>
            </a:r>
            <a:r>
              <a:rPr lang="en-ID" sz="800" dirty="0"/>
              <a:t> </a:t>
            </a:r>
            <a:r>
              <a:rPr lang="en-ID" sz="800" dirty="0" err="1"/>
              <a:t>masalah</a:t>
            </a:r>
            <a:r>
              <a:rPr lang="en-ID" sz="800" dirty="0"/>
              <a:t> </a:t>
            </a:r>
            <a:r>
              <a:rPr lang="en-ID" sz="800" dirty="0" err="1"/>
              <a:t>kombinatorika</a:t>
            </a:r>
            <a:r>
              <a:rPr lang="en-ID" sz="800" dirty="0"/>
              <a:t> </a:t>
            </a:r>
            <a:r>
              <a:rPr lang="en-ID" sz="800" dirty="0" err="1"/>
              <a:t>dengan</a:t>
            </a:r>
            <a:r>
              <a:rPr lang="en-ID" sz="800" dirty="0"/>
              <a:t> </a:t>
            </a:r>
            <a:r>
              <a:rPr lang="en-ID" sz="800" dirty="0" err="1"/>
              <a:t>prinsip</a:t>
            </a:r>
            <a:r>
              <a:rPr lang="en-ID" sz="800" dirty="0"/>
              <a:t> </a:t>
            </a:r>
            <a:r>
              <a:rPr lang="en-ID" sz="800" dirty="0" err="1"/>
              <a:t>sarang</a:t>
            </a:r>
            <a:r>
              <a:rPr lang="en-ID" sz="800" dirty="0"/>
              <a:t> </a:t>
            </a:r>
            <a:r>
              <a:rPr lang="en-ID" sz="800" dirty="0" err="1"/>
              <a:t>merpati</a:t>
            </a:r>
            <a:r>
              <a:rPr lang="en-ID" sz="800" dirty="0"/>
              <a:t>.</a:t>
            </a:r>
          </a:p>
          <a:p>
            <a:r>
              <a:rPr lang="en-ID" sz="800" dirty="0"/>
              <a:t>7. </a:t>
            </a:r>
            <a:r>
              <a:rPr lang="en-ID" sz="800" dirty="0" err="1"/>
              <a:t>Permutasi</a:t>
            </a:r>
            <a:r>
              <a:rPr lang="en-ID" sz="800" dirty="0"/>
              <a:t>, </a:t>
            </a:r>
            <a:r>
              <a:rPr lang="en-ID" sz="800" dirty="0" err="1"/>
              <a:t>Kombinasi</a:t>
            </a:r>
            <a:r>
              <a:rPr lang="en-ID" sz="800" dirty="0"/>
              <a:t>, dan </a:t>
            </a:r>
            <a:r>
              <a:rPr lang="en-ID" sz="800" dirty="0" err="1"/>
              <a:t>Generalisasinya</a:t>
            </a:r>
            <a:r>
              <a:rPr lang="en-ID" sz="800" dirty="0"/>
              <a:t>: </a:t>
            </a:r>
            <a:r>
              <a:rPr lang="en-ID" sz="800" dirty="0" err="1"/>
              <a:t>permutasi</a:t>
            </a:r>
            <a:r>
              <a:rPr lang="en-ID" sz="800" dirty="0"/>
              <a:t> dan </a:t>
            </a:r>
            <a:r>
              <a:rPr lang="en-ID" sz="800" dirty="0" err="1"/>
              <a:t>penerapannya</a:t>
            </a:r>
            <a:r>
              <a:rPr lang="en-ID" sz="800" dirty="0"/>
              <a:t>, </a:t>
            </a:r>
            <a:r>
              <a:rPr lang="en-ID" sz="800" dirty="0" err="1"/>
              <a:t>kombinasi</a:t>
            </a:r>
            <a:r>
              <a:rPr lang="en-ID" sz="800" dirty="0"/>
              <a:t> dan </a:t>
            </a:r>
            <a:r>
              <a:rPr lang="en-ID" sz="800" dirty="0" err="1"/>
              <a:t>penerapannya</a:t>
            </a:r>
            <a:r>
              <a:rPr lang="en-ID" sz="800" dirty="0"/>
              <a:t>, </a:t>
            </a:r>
            <a:r>
              <a:rPr lang="en-ID" sz="800" dirty="0" err="1"/>
              <a:t>permutasi</a:t>
            </a:r>
            <a:r>
              <a:rPr lang="en-ID" sz="800" dirty="0"/>
              <a:t> yang </a:t>
            </a:r>
            <a:r>
              <a:rPr lang="en-ID" sz="800" dirty="0" err="1"/>
              <a:t>diperumum</a:t>
            </a:r>
            <a:r>
              <a:rPr lang="en-ID" sz="800" dirty="0"/>
              <a:t> dan </a:t>
            </a:r>
            <a:r>
              <a:rPr lang="en-ID" sz="800" dirty="0" err="1"/>
              <a:t>aplikasinya</a:t>
            </a:r>
            <a:r>
              <a:rPr lang="en-ID" sz="800" dirty="0"/>
              <a:t>, </a:t>
            </a:r>
            <a:r>
              <a:rPr lang="en-ID" sz="800" dirty="0" err="1"/>
              <a:t>serta</a:t>
            </a:r>
            <a:r>
              <a:rPr lang="en-ID" sz="800" dirty="0"/>
              <a:t> </a:t>
            </a:r>
            <a:r>
              <a:rPr lang="en-ID" sz="800" dirty="0" err="1"/>
              <a:t>kombinasi</a:t>
            </a:r>
            <a:r>
              <a:rPr lang="en-ID" sz="800" dirty="0"/>
              <a:t> yang </a:t>
            </a:r>
            <a:r>
              <a:rPr lang="en-ID" sz="800" dirty="0" err="1"/>
              <a:t>diperumum</a:t>
            </a:r>
            <a:r>
              <a:rPr lang="en-ID" sz="800" dirty="0"/>
              <a:t> dan </a:t>
            </a:r>
            <a:r>
              <a:rPr lang="en-ID" sz="800" dirty="0" err="1"/>
              <a:t>aplikasinya</a:t>
            </a:r>
            <a:r>
              <a:rPr lang="en-ID" sz="800" dirty="0"/>
              <a:t>.</a:t>
            </a:r>
          </a:p>
          <a:p>
            <a:pPr marL="229235" indent="-216535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229235" algn="l"/>
              </a:tabLst>
            </a:pPr>
            <a:endParaRPr sz="1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450" y="36686"/>
            <a:ext cx="221742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25" dirty="0"/>
              <a:t>Materi</a:t>
            </a:r>
            <a:r>
              <a:rPr spc="-15" dirty="0"/>
              <a:t> </a:t>
            </a:r>
            <a:r>
              <a:rPr spc="-35" dirty="0" err="1"/>
              <a:t>setiap</a:t>
            </a:r>
            <a:r>
              <a:rPr spc="-5" dirty="0"/>
              <a:t> </a:t>
            </a:r>
            <a:r>
              <a:rPr lang="en-US" spc="-25" dirty="0"/>
              <a:t>pekan</a:t>
            </a:r>
            <a:endParaRPr spc="-25" dirty="0"/>
          </a:p>
        </p:txBody>
      </p:sp>
      <p:grpSp>
        <p:nvGrpSpPr>
          <p:cNvPr id="4" name="object 4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2D29CA4-6B46-85E7-EA43-4CDE9326E947}"/>
              </a:ext>
            </a:extLst>
          </p:cNvPr>
          <p:cNvSpPr txBox="1"/>
          <p:nvPr/>
        </p:nvSpPr>
        <p:spPr>
          <a:xfrm>
            <a:off x="282419" y="403487"/>
            <a:ext cx="3816985" cy="238462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dirty="0">
                <a:latin typeface="Calibri"/>
                <a:cs typeface="Calibri"/>
              </a:rPr>
              <a:t>Materi</a:t>
            </a:r>
            <a:r>
              <a:rPr sz="900" b="1" spc="135" dirty="0">
                <a:latin typeface="Calibri"/>
                <a:cs typeface="Calibri"/>
              </a:rPr>
              <a:t> </a:t>
            </a:r>
            <a:r>
              <a:rPr lang="en-US" sz="900" b="1" dirty="0">
                <a:latin typeface="Calibri"/>
                <a:cs typeface="Calibri"/>
              </a:rPr>
              <a:t>pekan</a:t>
            </a:r>
            <a:r>
              <a:rPr sz="900" b="1" spc="140" dirty="0">
                <a:latin typeface="Calibri"/>
                <a:cs typeface="Calibri"/>
              </a:rPr>
              <a:t> </a:t>
            </a:r>
            <a:r>
              <a:rPr sz="900" b="1" dirty="0">
                <a:latin typeface="Calibri"/>
                <a:cs typeface="Calibri"/>
              </a:rPr>
              <a:t>ke-</a:t>
            </a:r>
            <a:r>
              <a:rPr sz="900" b="1" spc="140" dirty="0">
                <a:latin typeface="Calibri"/>
                <a:cs typeface="Calibri"/>
              </a:rPr>
              <a:t> </a:t>
            </a:r>
            <a:r>
              <a:rPr sz="900" b="1" spc="-50" dirty="0">
                <a:latin typeface="Calibri"/>
                <a:cs typeface="Calibri"/>
              </a:rPr>
              <a:t>:</a:t>
            </a:r>
            <a:endParaRPr sz="900" b="1" dirty="0">
              <a:latin typeface="Calibri"/>
              <a:cs typeface="Calibri"/>
            </a:endParaRPr>
          </a:p>
          <a:p>
            <a:r>
              <a:rPr lang="en-ID" sz="900" dirty="0"/>
              <a:t>8. Graf 1: </a:t>
            </a:r>
            <a:r>
              <a:rPr lang="en-ID" sz="900" dirty="0" err="1"/>
              <a:t>definisi</a:t>
            </a:r>
            <a:r>
              <a:rPr lang="en-ID" sz="900" dirty="0"/>
              <a:t> informal dan formal </a:t>
            </a:r>
            <a:r>
              <a:rPr lang="en-ID" sz="900" dirty="0" err="1"/>
              <a:t>dari</a:t>
            </a:r>
            <a:r>
              <a:rPr lang="en-ID" sz="900" dirty="0"/>
              <a:t> </a:t>
            </a:r>
            <a:r>
              <a:rPr lang="en-ID" sz="900" dirty="0" err="1"/>
              <a:t>graf</a:t>
            </a:r>
            <a:r>
              <a:rPr lang="en-ID" sz="900" dirty="0"/>
              <a:t>, </a:t>
            </a:r>
            <a:r>
              <a:rPr lang="en-ID" sz="900" dirty="0" err="1"/>
              <a:t>terminologi</a:t>
            </a:r>
            <a:r>
              <a:rPr lang="en-ID" sz="900" dirty="0"/>
              <a:t> </a:t>
            </a:r>
            <a:r>
              <a:rPr lang="en-ID" sz="900" dirty="0" err="1"/>
              <a:t>elementer</a:t>
            </a:r>
            <a:r>
              <a:rPr lang="en-ID" sz="900" dirty="0"/>
              <a:t> pada </a:t>
            </a:r>
            <a:r>
              <a:rPr lang="en-ID" sz="900" dirty="0" err="1"/>
              <a:t>graf</a:t>
            </a:r>
            <a:r>
              <a:rPr lang="en-ID" sz="900" dirty="0"/>
              <a:t> (</a:t>
            </a:r>
            <a:r>
              <a:rPr lang="en-ID" sz="900" dirty="0" err="1"/>
              <a:t>ketetanggaan</a:t>
            </a:r>
            <a:r>
              <a:rPr lang="en-ID" sz="900" dirty="0"/>
              <a:t>, </a:t>
            </a:r>
            <a:r>
              <a:rPr lang="en-ID" sz="900" dirty="0" err="1"/>
              <a:t>lingkungan</a:t>
            </a:r>
            <a:r>
              <a:rPr lang="en-ID" sz="900" dirty="0"/>
              <a:t>, </a:t>
            </a:r>
            <a:r>
              <a:rPr lang="en-ID" sz="900" dirty="0" err="1"/>
              <a:t>derajat</a:t>
            </a:r>
            <a:r>
              <a:rPr lang="en-ID" sz="900" dirty="0"/>
              <a:t>, dan </a:t>
            </a:r>
            <a:r>
              <a:rPr lang="en-ID" sz="900" dirty="0" err="1"/>
              <a:t>graf</a:t>
            </a:r>
            <a:r>
              <a:rPr lang="en-ID" sz="900" dirty="0"/>
              <a:t> </a:t>
            </a:r>
            <a:r>
              <a:rPr lang="en-ID" sz="900" dirty="0" err="1"/>
              <a:t>sederhana</a:t>
            </a:r>
            <a:r>
              <a:rPr lang="en-ID" sz="900" dirty="0"/>
              <a:t>), </a:t>
            </a:r>
            <a:r>
              <a:rPr lang="en-ID" sz="900" dirty="0" err="1"/>
              <a:t>subgraf</a:t>
            </a:r>
            <a:r>
              <a:rPr lang="en-ID" sz="900" dirty="0"/>
              <a:t>, </a:t>
            </a:r>
            <a:r>
              <a:rPr lang="en-ID" sz="900" dirty="0" err="1"/>
              <a:t>subgraf</a:t>
            </a:r>
            <a:r>
              <a:rPr lang="en-ID" sz="900" dirty="0"/>
              <a:t> </a:t>
            </a:r>
            <a:r>
              <a:rPr lang="en-ID" sz="900" dirty="0" err="1"/>
              <a:t>perentang</a:t>
            </a:r>
            <a:r>
              <a:rPr lang="en-ID" sz="900" dirty="0"/>
              <a:t>, </a:t>
            </a:r>
            <a:r>
              <a:rPr lang="en-ID" sz="900" dirty="0" err="1"/>
              <a:t>graf</a:t>
            </a:r>
            <a:r>
              <a:rPr lang="en-ID" sz="900" dirty="0"/>
              <a:t> </a:t>
            </a:r>
            <a:r>
              <a:rPr lang="en-ID" sz="900" dirty="0" err="1"/>
              <a:t>komplemen</a:t>
            </a:r>
            <a:r>
              <a:rPr lang="en-ID" sz="900" dirty="0"/>
              <a:t>, </a:t>
            </a:r>
            <a:r>
              <a:rPr lang="en-ID" sz="900" dirty="0" err="1"/>
              <a:t>graf</a:t>
            </a:r>
            <a:r>
              <a:rPr lang="en-ID" sz="900" dirty="0"/>
              <a:t> </a:t>
            </a:r>
            <a:r>
              <a:rPr lang="en-ID" sz="900" dirty="0" err="1"/>
              <a:t>gabungan</a:t>
            </a:r>
            <a:r>
              <a:rPr lang="en-ID" sz="900" dirty="0"/>
              <a:t>, </a:t>
            </a:r>
            <a:r>
              <a:rPr lang="en-ID" sz="900" dirty="0" err="1"/>
              <a:t>serta</a:t>
            </a:r>
            <a:r>
              <a:rPr lang="en-ID" sz="900" dirty="0"/>
              <a:t> </a:t>
            </a:r>
            <a:r>
              <a:rPr lang="en-ID" sz="900" dirty="0" err="1"/>
              <a:t>representasi</a:t>
            </a:r>
            <a:r>
              <a:rPr lang="en-ID" sz="900" dirty="0"/>
              <a:t> </a:t>
            </a:r>
            <a:r>
              <a:rPr lang="en-ID" sz="900" dirty="0" err="1"/>
              <a:t>graf</a:t>
            </a:r>
            <a:r>
              <a:rPr lang="en-ID" sz="900" dirty="0"/>
              <a:t> </a:t>
            </a:r>
            <a:r>
              <a:rPr lang="en-ID" sz="900" dirty="0" err="1"/>
              <a:t>dengan</a:t>
            </a:r>
            <a:r>
              <a:rPr lang="en-ID" sz="900" dirty="0"/>
              <a:t> </a:t>
            </a:r>
            <a:r>
              <a:rPr lang="en-ID" sz="900" dirty="0" err="1"/>
              <a:t>matriks</a:t>
            </a:r>
            <a:r>
              <a:rPr lang="en-ID" sz="900" dirty="0"/>
              <a:t> dan daftar (</a:t>
            </a:r>
            <a:r>
              <a:rPr lang="en-ID" sz="900" i="1" dirty="0"/>
              <a:t>list</a:t>
            </a:r>
            <a:r>
              <a:rPr lang="en-ID" sz="900" dirty="0"/>
              <a:t>).</a:t>
            </a:r>
          </a:p>
          <a:p>
            <a:r>
              <a:rPr lang="en-ID" sz="900" dirty="0"/>
              <a:t>9. Graf 2: </a:t>
            </a:r>
            <a:r>
              <a:rPr lang="en-ID" sz="900" dirty="0" err="1"/>
              <a:t>isomorfisma</a:t>
            </a:r>
            <a:r>
              <a:rPr lang="en-ID" sz="900" dirty="0"/>
              <a:t> </a:t>
            </a:r>
            <a:r>
              <a:rPr lang="en-ID" sz="900" dirty="0" err="1"/>
              <a:t>graf</a:t>
            </a:r>
            <a:r>
              <a:rPr lang="en-ID" sz="900" dirty="0"/>
              <a:t>, </a:t>
            </a:r>
            <a:r>
              <a:rPr lang="en-ID" sz="900" dirty="0" err="1"/>
              <a:t>keterhubungan</a:t>
            </a:r>
            <a:r>
              <a:rPr lang="en-ID" sz="900" dirty="0"/>
              <a:t> pada </a:t>
            </a:r>
            <a:r>
              <a:rPr lang="en-ID" sz="900" dirty="0" err="1"/>
              <a:t>graf</a:t>
            </a:r>
            <a:r>
              <a:rPr lang="en-ID" sz="900" dirty="0"/>
              <a:t>, </a:t>
            </a:r>
            <a:r>
              <a:rPr lang="en-ID" sz="900" dirty="0" err="1"/>
              <a:t>lintasan</a:t>
            </a:r>
            <a:r>
              <a:rPr lang="en-ID" sz="900" dirty="0"/>
              <a:t> dan </a:t>
            </a:r>
            <a:r>
              <a:rPr lang="en-ID" sz="900" dirty="0" err="1"/>
              <a:t>sirkuit</a:t>
            </a:r>
            <a:r>
              <a:rPr lang="en-ID" sz="900" dirty="0"/>
              <a:t> Euler, </a:t>
            </a:r>
            <a:r>
              <a:rPr lang="en-ID" sz="900" dirty="0" err="1"/>
              <a:t>serta</a:t>
            </a:r>
            <a:r>
              <a:rPr lang="en-ID" sz="900" dirty="0"/>
              <a:t> </a:t>
            </a:r>
            <a:r>
              <a:rPr lang="en-ID" sz="900" dirty="0" err="1"/>
              <a:t>lintasan</a:t>
            </a:r>
            <a:r>
              <a:rPr lang="en-ID" sz="900" dirty="0"/>
              <a:t> dan </a:t>
            </a:r>
            <a:r>
              <a:rPr lang="en-ID" sz="900" dirty="0" err="1"/>
              <a:t>sirkuit</a:t>
            </a:r>
            <a:r>
              <a:rPr lang="en-ID" sz="900" dirty="0"/>
              <a:t> Hamilton.</a:t>
            </a:r>
          </a:p>
          <a:p>
            <a:r>
              <a:rPr lang="en-ID" sz="900" dirty="0"/>
              <a:t>10. Graf 3: </a:t>
            </a:r>
            <a:r>
              <a:rPr lang="en-ID" sz="900" dirty="0" err="1"/>
              <a:t>graf</a:t>
            </a:r>
            <a:r>
              <a:rPr lang="en-ID" sz="900" dirty="0"/>
              <a:t> planar, formula Euler </a:t>
            </a:r>
            <a:r>
              <a:rPr lang="en-ID" sz="900" dirty="0" err="1"/>
              <a:t>untuk</a:t>
            </a:r>
            <a:r>
              <a:rPr lang="en-ID" sz="900" dirty="0"/>
              <a:t> </a:t>
            </a:r>
            <a:r>
              <a:rPr lang="en-ID" sz="900" dirty="0" err="1"/>
              <a:t>graf</a:t>
            </a:r>
            <a:r>
              <a:rPr lang="en-ID" sz="900" dirty="0"/>
              <a:t> planar, </a:t>
            </a:r>
            <a:r>
              <a:rPr lang="en-ID" sz="900" dirty="0" err="1"/>
              <a:t>penentuan</a:t>
            </a:r>
            <a:r>
              <a:rPr lang="en-ID" sz="900" dirty="0"/>
              <a:t> </a:t>
            </a:r>
            <a:r>
              <a:rPr lang="en-ID" sz="900" dirty="0" err="1"/>
              <a:t>planaritas</a:t>
            </a:r>
            <a:r>
              <a:rPr lang="en-ID" sz="900" dirty="0"/>
              <a:t> </a:t>
            </a:r>
            <a:r>
              <a:rPr lang="en-ID" sz="900" dirty="0" err="1"/>
              <a:t>dengan</a:t>
            </a:r>
            <a:r>
              <a:rPr lang="en-ID" sz="900" dirty="0"/>
              <a:t> </a:t>
            </a:r>
            <a:r>
              <a:rPr lang="en-ID" sz="900" dirty="0" err="1"/>
              <a:t>teorema</a:t>
            </a:r>
            <a:r>
              <a:rPr lang="en-ID" sz="900" dirty="0"/>
              <a:t> </a:t>
            </a:r>
            <a:r>
              <a:rPr lang="en-ID" sz="900" dirty="0" err="1"/>
              <a:t>Kuratowski</a:t>
            </a:r>
            <a:r>
              <a:rPr lang="en-ID" sz="900" dirty="0"/>
              <a:t>, </a:t>
            </a:r>
            <a:r>
              <a:rPr lang="en-ID" sz="900" dirty="0" err="1"/>
              <a:t>pewarnaan</a:t>
            </a:r>
            <a:r>
              <a:rPr lang="en-ID" sz="900" dirty="0"/>
              <a:t> </a:t>
            </a:r>
            <a:r>
              <a:rPr lang="en-ID" sz="900" dirty="0" err="1"/>
              <a:t>graf</a:t>
            </a:r>
            <a:r>
              <a:rPr lang="en-ID" sz="900" dirty="0"/>
              <a:t>, </a:t>
            </a:r>
            <a:r>
              <a:rPr lang="en-ID" sz="900" dirty="0" err="1"/>
              <a:t>algoritma</a:t>
            </a:r>
            <a:r>
              <a:rPr lang="en-ID" sz="900" dirty="0"/>
              <a:t> Welsh-Powell, dan </a:t>
            </a:r>
            <a:r>
              <a:rPr lang="en-ID" sz="900" dirty="0" err="1"/>
              <a:t>aplikasi</a:t>
            </a:r>
            <a:r>
              <a:rPr lang="en-ID" sz="900" dirty="0"/>
              <a:t> </a:t>
            </a:r>
            <a:r>
              <a:rPr lang="en-ID" sz="900" dirty="0" err="1"/>
              <a:t>dari</a:t>
            </a:r>
            <a:r>
              <a:rPr lang="en-ID" sz="900" dirty="0"/>
              <a:t> </a:t>
            </a:r>
            <a:r>
              <a:rPr lang="en-ID" sz="900" dirty="0" err="1"/>
              <a:t>pewarnaan</a:t>
            </a:r>
            <a:r>
              <a:rPr lang="en-ID" sz="900" dirty="0"/>
              <a:t> </a:t>
            </a:r>
            <a:r>
              <a:rPr lang="en-ID" sz="900" dirty="0" err="1"/>
              <a:t>graf</a:t>
            </a:r>
            <a:r>
              <a:rPr lang="en-ID" sz="900" dirty="0"/>
              <a:t>. Graf 4: </a:t>
            </a:r>
            <a:r>
              <a:rPr lang="en-ID" sz="900" dirty="0" err="1"/>
              <a:t>masalah</a:t>
            </a:r>
            <a:r>
              <a:rPr lang="en-ID" sz="900" dirty="0"/>
              <a:t> </a:t>
            </a:r>
            <a:r>
              <a:rPr lang="en-ID" sz="900" dirty="0" err="1"/>
              <a:t>lintasan</a:t>
            </a:r>
            <a:r>
              <a:rPr lang="en-ID" sz="900" dirty="0"/>
              <a:t> </a:t>
            </a:r>
            <a:r>
              <a:rPr lang="en-ID" sz="900" dirty="0" err="1"/>
              <a:t>terpendk</a:t>
            </a:r>
            <a:r>
              <a:rPr lang="en-ID" sz="900" dirty="0"/>
              <a:t>, </a:t>
            </a:r>
            <a:r>
              <a:rPr lang="en-ID" sz="900" dirty="0" err="1"/>
              <a:t>algoritma</a:t>
            </a:r>
            <a:r>
              <a:rPr lang="en-ID" sz="900" dirty="0"/>
              <a:t> </a:t>
            </a:r>
            <a:r>
              <a:rPr lang="en-ID" sz="900" dirty="0" err="1"/>
              <a:t>Dijsktra</a:t>
            </a:r>
            <a:r>
              <a:rPr lang="en-ID" sz="900" dirty="0"/>
              <a:t>, </a:t>
            </a:r>
            <a:r>
              <a:rPr lang="en-ID" sz="900" dirty="0" err="1"/>
              <a:t>masalah</a:t>
            </a:r>
            <a:r>
              <a:rPr lang="en-ID" sz="900" dirty="0"/>
              <a:t> </a:t>
            </a:r>
            <a:r>
              <a:rPr lang="en-ID" sz="900" dirty="0" err="1"/>
              <a:t>pedanganh</a:t>
            </a:r>
            <a:r>
              <a:rPr lang="en-ID" sz="900" dirty="0"/>
              <a:t> </a:t>
            </a:r>
            <a:r>
              <a:rPr lang="en-ID" sz="900" dirty="0" err="1"/>
              <a:t>keliling</a:t>
            </a:r>
            <a:r>
              <a:rPr lang="en-ID" sz="900" dirty="0"/>
              <a:t>, dan </a:t>
            </a:r>
            <a:r>
              <a:rPr lang="en-ID" sz="900" dirty="0" err="1"/>
              <a:t>masalah</a:t>
            </a:r>
            <a:r>
              <a:rPr lang="en-ID" sz="900" dirty="0"/>
              <a:t> </a:t>
            </a:r>
            <a:r>
              <a:rPr lang="en-ID" sz="900" dirty="0" err="1"/>
              <a:t>tukang</a:t>
            </a:r>
            <a:r>
              <a:rPr lang="en-ID" sz="900" dirty="0"/>
              <a:t> </a:t>
            </a:r>
            <a:r>
              <a:rPr lang="en-ID" sz="900" dirty="0" err="1"/>
              <a:t>pos</a:t>
            </a:r>
            <a:r>
              <a:rPr lang="en-ID" sz="900" dirty="0"/>
              <a:t> </a:t>
            </a:r>
            <a:r>
              <a:rPr lang="en-ID" sz="900" dirty="0" err="1"/>
              <a:t>Tiongkok</a:t>
            </a:r>
            <a:r>
              <a:rPr lang="en-ID" sz="900" dirty="0"/>
              <a:t>.</a:t>
            </a:r>
          </a:p>
          <a:p>
            <a:r>
              <a:rPr lang="en-ID" sz="900" dirty="0"/>
              <a:t>11. </a:t>
            </a:r>
            <a:r>
              <a:rPr lang="en-ID" sz="900" dirty="0" err="1"/>
              <a:t>Pohon</a:t>
            </a:r>
            <a:r>
              <a:rPr lang="en-ID" sz="900" dirty="0"/>
              <a:t> 1: </a:t>
            </a:r>
            <a:r>
              <a:rPr lang="en-ID" sz="900" dirty="0" err="1"/>
              <a:t>definisi</a:t>
            </a:r>
            <a:r>
              <a:rPr lang="en-ID" sz="900" dirty="0"/>
              <a:t> </a:t>
            </a:r>
            <a:r>
              <a:rPr lang="en-ID" sz="900" dirty="0" err="1"/>
              <a:t>pohon</a:t>
            </a:r>
            <a:r>
              <a:rPr lang="en-ID" sz="900" dirty="0"/>
              <a:t>, </a:t>
            </a:r>
            <a:r>
              <a:rPr lang="en-ID" sz="900" dirty="0" err="1"/>
              <a:t>hutan</a:t>
            </a:r>
            <a:r>
              <a:rPr lang="en-ID" sz="900" dirty="0"/>
              <a:t>, dan </a:t>
            </a:r>
            <a:r>
              <a:rPr lang="en-ID" sz="900" dirty="0" err="1"/>
              <a:t>hal-hal</a:t>
            </a:r>
            <a:r>
              <a:rPr lang="en-ID" sz="900" dirty="0"/>
              <a:t> </a:t>
            </a:r>
            <a:r>
              <a:rPr lang="en-ID" sz="900" dirty="0" err="1"/>
              <a:t>terkait</a:t>
            </a:r>
            <a:r>
              <a:rPr lang="en-ID" sz="900" dirty="0"/>
              <a:t>, </a:t>
            </a:r>
            <a:r>
              <a:rPr lang="en-ID" sz="900" dirty="0" err="1"/>
              <a:t>terminologi</a:t>
            </a:r>
            <a:r>
              <a:rPr lang="en-ID" sz="900" dirty="0"/>
              <a:t> pada </a:t>
            </a:r>
            <a:r>
              <a:rPr lang="en-ID" sz="900" dirty="0" err="1"/>
              <a:t>pohon</a:t>
            </a:r>
            <a:r>
              <a:rPr lang="en-ID" sz="900" dirty="0"/>
              <a:t> </a:t>
            </a:r>
            <a:r>
              <a:rPr lang="en-ID" sz="900" dirty="0" err="1"/>
              <a:t>berakar</a:t>
            </a:r>
            <a:r>
              <a:rPr lang="en-ID" sz="900" dirty="0"/>
              <a:t>, dan </a:t>
            </a:r>
            <a:r>
              <a:rPr lang="en-ID" sz="900" dirty="0" err="1"/>
              <a:t>sifat-sifat</a:t>
            </a:r>
            <a:r>
              <a:rPr lang="en-ID" sz="900" dirty="0"/>
              <a:t> </a:t>
            </a:r>
            <a:r>
              <a:rPr lang="en-ID" sz="900" dirty="0" err="1"/>
              <a:t>dasar</a:t>
            </a:r>
            <a:r>
              <a:rPr lang="en-ID" sz="900" dirty="0"/>
              <a:t> </a:t>
            </a:r>
            <a:r>
              <a:rPr lang="en-ID" sz="900" dirty="0" err="1"/>
              <a:t>pohon</a:t>
            </a:r>
            <a:r>
              <a:rPr lang="en-ID" sz="900" dirty="0"/>
              <a:t> </a:t>
            </a:r>
            <a:r>
              <a:rPr lang="en-ID" sz="900" dirty="0" err="1"/>
              <a:t>berakar</a:t>
            </a:r>
            <a:r>
              <a:rPr lang="en-ID" sz="900" dirty="0"/>
              <a:t>.</a:t>
            </a:r>
          </a:p>
          <a:p>
            <a:r>
              <a:rPr lang="en-ID" sz="900" dirty="0"/>
              <a:t>12. </a:t>
            </a:r>
            <a:r>
              <a:rPr lang="en-ID" sz="900" dirty="0" err="1"/>
              <a:t>Pohon</a:t>
            </a:r>
            <a:r>
              <a:rPr lang="en-ID" sz="900" dirty="0"/>
              <a:t> 2: </a:t>
            </a:r>
            <a:r>
              <a:rPr lang="en-ID" sz="900" dirty="0" err="1"/>
              <a:t>definisi</a:t>
            </a:r>
            <a:r>
              <a:rPr lang="en-ID" sz="900" dirty="0"/>
              <a:t> </a:t>
            </a:r>
            <a:r>
              <a:rPr lang="en-ID" sz="900" dirty="0" err="1"/>
              <a:t>pohon</a:t>
            </a:r>
            <a:r>
              <a:rPr lang="en-ID" sz="900" dirty="0"/>
              <a:t> </a:t>
            </a:r>
            <a:r>
              <a:rPr lang="en-ID" sz="900" dirty="0" err="1"/>
              <a:t>perentang</a:t>
            </a:r>
            <a:r>
              <a:rPr lang="en-ID" sz="900" dirty="0"/>
              <a:t> dan </a:t>
            </a:r>
            <a:r>
              <a:rPr lang="en-ID" sz="900" dirty="0" err="1"/>
              <a:t>pohon</a:t>
            </a:r>
            <a:r>
              <a:rPr lang="en-ID" sz="900" dirty="0"/>
              <a:t> </a:t>
            </a:r>
            <a:r>
              <a:rPr lang="en-ID" sz="900" dirty="0" err="1"/>
              <a:t>perentang</a:t>
            </a:r>
            <a:r>
              <a:rPr lang="en-ID" sz="900" dirty="0"/>
              <a:t> minimum, </a:t>
            </a:r>
            <a:r>
              <a:rPr lang="en-ID" sz="900" dirty="0" err="1"/>
              <a:t>algoritma</a:t>
            </a:r>
            <a:r>
              <a:rPr lang="en-ID" sz="900" dirty="0"/>
              <a:t> Prim, </a:t>
            </a:r>
            <a:r>
              <a:rPr lang="en-ID" sz="900" dirty="0" err="1"/>
              <a:t>algoritma</a:t>
            </a:r>
            <a:r>
              <a:rPr lang="en-ID" sz="900" dirty="0"/>
              <a:t> Kruskal, dan </a:t>
            </a:r>
            <a:r>
              <a:rPr lang="en-ID" sz="900" dirty="0" err="1"/>
              <a:t>aplikasi</a:t>
            </a:r>
            <a:r>
              <a:rPr lang="en-ID" sz="900" dirty="0"/>
              <a:t> </a:t>
            </a:r>
            <a:r>
              <a:rPr lang="en-ID" sz="900" dirty="0" err="1"/>
              <a:t>pohon</a:t>
            </a:r>
            <a:r>
              <a:rPr lang="en-ID" sz="900" dirty="0"/>
              <a:t>.</a:t>
            </a:r>
          </a:p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29235" algn="l"/>
              </a:tabLst>
            </a:pPr>
            <a:endParaRPr sz="9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73A0C-2BC8-E32E-EE6A-EA8209EA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951E80-8AF1-8D6E-B75B-5ACA9F7B97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450" y="36686"/>
            <a:ext cx="221742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25" dirty="0"/>
              <a:t>Materi</a:t>
            </a:r>
            <a:r>
              <a:rPr spc="-15" dirty="0"/>
              <a:t> </a:t>
            </a:r>
            <a:r>
              <a:rPr spc="-35" dirty="0" err="1"/>
              <a:t>setiap</a:t>
            </a:r>
            <a:r>
              <a:rPr spc="-5" dirty="0"/>
              <a:t> </a:t>
            </a:r>
            <a:r>
              <a:rPr lang="en-US" spc="-25" dirty="0"/>
              <a:t>pekan</a:t>
            </a:r>
            <a:endParaRPr spc="-25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5B1C4ED-3313-81AD-6ADC-8AA4841AE56C}"/>
              </a:ext>
            </a:extLst>
          </p:cNvPr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96EB5D3-E7A8-F5FB-416F-8E4D2835D0E8}"/>
                </a:ext>
              </a:extLst>
            </p:cNvPr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0A43C79E-B4D1-03F4-A81C-44971C642CB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995E7A4-62B6-CE77-E88B-E9BCADF0F259}"/>
              </a:ext>
            </a:extLst>
          </p:cNvPr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AEAC544-AD08-4553-84E2-AE3694A2CEB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E956C325-F6DD-AAB6-8EA3-0BD5777E6655}"/>
              </a:ext>
            </a:extLst>
          </p:cNvPr>
          <p:cNvSpPr txBox="1"/>
          <p:nvPr/>
        </p:nvSpPr>
        <p:spPr>
          <a:xfrm>
            <a:off x="282419" y="403487"/>
            <a:ext cx="3816985" cy="113813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dirty="0">
                <a:latin typeface="Calibri"/>
                <a:cs typeface="Calibri"/>
              </a:rPr>
              <a:t>Materi</a:t>
            </a:r>
            <a:r>
              <a:rPr sz="900" b="1" spc="135" dirty="0">
                <a:latin typeface="Calibri"/>
                <a:cs typeface="Calibri"/>
              </a:rPr>
              <a:t> </a:t>
            </a:r>
            <a:r>
              <a:rPr lang="en-US" sz="900" b="1" dirty="0">
                <a:latin typeface="Calibri"/>
                <a:cs typeface="Calibri"/>
              </a:rPr>
              <a:t>pekan</a:t>
            </a:r>
            <a:r>
              <a:rPr sz="900" b="1" spc="140" dirty="0">
                <a:latin typeface="Calibri"/>
                <a:cs typeface="Calibri"/>
              </a:rPr>
              <a:t> </a:t>
            </a:r>
            <a:r>
              <a:rPr sz="900" b="1" dirty="0">
                <a:latin typeface="Calibri"/>
                <a:cs typeface="Calibri"/>
              </a:rPr>
              <a:t>ke-</a:t>
            </a:r>
            <a:r>
              <a:rPr sz="900" b="1" spc="140" dirty="0">
                <a:latin typeface="Calibri"/>
                <a:cs typeface="Calibri"/>
              </a:rPr>
              <a:t> </a:t>
            </a:r>
            <a:r>
              <a:rPr sz="900" b="1" spc="-50" dirty="0">
                <a:latin typeface="Calibri"/>
                <a:cs typeface="Calibri"/>
              </a:rPr>
              <a:t>:</a:t>
            </a:r>
            <a:endParaRPr sz="900" b="1" dirty="0">
              <a:latin typeface="Calibri"/>
              <a:cs typeface="Calibri"/>
            </a:endParaRPr>
          </a:p>
          <a:p>
            <a:r>
              <a:rPr lang="en-ID" sz="900" dirty="0"/>
              <a:t>13. Teori </a:t>
            </a:r>
            <a:r>
              <a:rPr lang="en-ID" sz="900" dirty="0" err="1"/>
              <a:t>Bilangan</a:t>
            </a:r>
            <a:r>
              <a:rPr lang="en-ID" sz="900" dirty="0"/>
              <a:t> 1: </a:t>
            </a:r>
            <a:r>
              <a:rPr lang="en-ID" sz="900" dirty="0" err="1"/>
              <a:t>teorema</a:t>
            </a:r>
            <a:r>
              <a:rPr lang="en-ID" sz="900" dirty="0"/>
              <a:t> </a:t>
            </a:r>
            <a:r>
              <a:rPr lang="en-ID" sz="900" dirty="0" err="1"/>
              <a:t>pembagian</a:t>
            </a:r>
            <a:r>
              <a:rPr lang="en-ID" sz="900" dirty="0"/>
              <a:t> dan </a:t>
            </a:r>
            <a:r>
              <a:rPr lang="en-ID" sz="900" dirty="0" err="1"/>
              <a:t>penerapannya</a:t>
            </a:r>
            <a:r>
              <a:rPr lang="en-ID" sz="900" dirty="0"/>
              <a:t>, </a:t>
            </a:r>
            <a:r>
              <a:rPr lang="en-ID" sz="900" dirty="0" err="1"/>
              <a:t>bilangan</a:t>
            </a:r>
            <a:r>
              <a:rPr lang="en-ID" sz="900" dirty="0"/>
              <a:t> prima dan </a:t>
            </a:r>
            <a:r>
              <a:rPr lang="en-ID" sz="900" dirty="0" err="1"/>
              <a:t>algoritma</a:t>
            </a:r>
            <a:r>
              <a:rPr lang="en-ID" sz="900" dirty="0"/>
              <a:t> </a:t>
            </a:r>
            <a:r>
              <a:rPr lang="en-ID" sz="900" dirty="0" err="1"/>
              <a:t>terkait</a:t>
            </a:r>
            <a:r>
              <a:rPr lang="en-ID" sz="900" dirty="0"/>
              <a:t>, </a:t>
            </a:r>
            <a:r>
              <a:rPr lang="en-ID" sz="900" dirty="0" err="1"/>
              <a:t>serta</a:t>
            </a:r>
            <a:r>
              <a:rPr lang="en-ID" sz="900" dirty="0"/>
              <a:t> </a:t>
            </a:r>
            <a:r>
              <a:rPr lang="en-ID" sz="900" dirty="0" err="1"/>
              <a:t>representasi</a:t>
            </a:r>
            <a:r>
              <a:rPr lang="en-ID" sz="900" dirty="0"/>
              <a:t> </a:t>
            </a:r>
            <a:r>
              <a:rPr lang="en-ID" sz="900" dirty="0" err="1"/>
              <a:t>bilangan</a:t>
            </a:r>
            <a:r>
              <a:rPr lang="en-ID" sz="900" dirty="0"/>
              <a:t> </a:t>
            </a:r>
            <a:r>
              <a:rPr lang="en-ID" sz="900" dirty="0" err="1"/>
              <a:t>bulat</a:t>
            </a:r>
            <a:r>
              <a:rPr lang="en-ID" sz="900" dirty="0"/>
              <a:t> </a:t>
            </a:r>
            <a:r>
              <a:rPr lang="en-ID" sz="900" dirty="0" err="1"/>
              <a:t>dalam</a:t>
            </a:r>
            <a:r>
              <a:rPr lang="en-ID" sz="900" dirty="0"/>
              <a:t> basis </a:t>
            </a:r>
            <a:r>
              <a:rPr lang="en-ID" sz="900" dirty="0" err="1"/>
              <a:t>tertentu</a:t>
            </a:r>
            <a:r>
              <a:rPr lang="en-ID" sz="900" dirty="0"/>
              <a:t>.</a:t>
            </a:r>
          </a:p>
          <a:p>
            <a:r>
              <a:rPr lang="en-ID" sz="900" dirty="0"/>
              <a:t>14. Teori </a:t>
            </a:r>
            <a:r>
              <a:rPr lang="en-ID" sz="900" dirty="0" err="1"/>
              <a:t>Bilangan</a:t>
            </a:r>
            <a:r>
              <a:rPr lang="en-ID" sz="900" dirty="0"/>
              <a:t> 2: </a:t>
            </a:r>
            <a:r>
              <a:rPr lang="en-ID" sz="900" dirty="0" err="1"/>
              <a:t>faktor</a:t>
            </a:r>
            <a:r>
              <a:rPr lang="en-ID" sz="900" dirty="0"/>
              <a:t> </a:t>
            </a:r>
            <a:r>
              <a:rPr lang="en-ID" sz="900" dirty="0" err="1"/>
              <a:t>persekutuan</a:t>
            </a:r>
            <a:r>
              <a:rPr lang="en-ID" sz="900" dirty="0"/>
              <a:t> </a:t>
            </a:r>
            <a:r>
              <a:rPr lang="en-ID" sz="900" dirty="0" err="1"/>
              <a:t>terbesar</a:t>
            </a:r>
            <a:r>
              <a:rPr lang="en-ID" sz="900" dirty="0"/>
              <a:t>, </a:t>
            </a:r>
            <a:r>
              <a:rPr lang="en-ID" sz="900" dirty="0" err="1"/>
              <a:t>kelipatan</a:t>
            </a:r>
            <a:r>
              <a:rPr lang="en-ID" sz="900" dirty="0"/>
              <a:t> </a:t>
            </a:r>
            <a:r>
              <a:rPr lang="en-ID" sz="900" dirty="0" err="1"/>
              <a:t>persekutuan</a:t>
            </a:r>
            <a:r>
              <a:rPr lang="en-ID" sz="900" dirty="0"/>
              <a:t> </a:t>
            </a:r>
            <a:r>
              <a:rPr lang="en-ID" sz="900" dirty="0" err="1"/>
              <a:t>terkecil</a:t>
            </a:r>
            <a:r>
              <a:rPr lang="en-ID" sz="900" dirty="0"/>
              <a:t>, </a:t>
            </a:r>
            <a:r>
              <a:rPr lang="en-ID" sz="900" dirty="0" err="1"/>
              <a:t>algoritma</a:t>
            </a:r>
            <a:r>
              <a:rPr lang="en-ID" sz="900" dirty="0"/>
              <a:t> Euclid </a:t>
            </a:r>
            <a:r>
              <a:rPr lang="en-ID" sz="900" dirty="0" err="1"/>
              <a:t>untuk</a:t>
            </a:r>
            <a:r>
              <a:rPr lang="en-ID" sz="900" dirty="0"/>
              <a:t> </a:t>
            </a:r>
            <a:r>
              <a:rPr lang="en-ID" sz="900" dirty="0" err="1"/>
              <a:t>mencari</a:t>
            </a:r>
            <a:r>
              <a:rPr lang="en-ID" sz="900" dirty="0"/>
              <a:t> </a:t>
            </a:r>
            <a:r>
              <a:rPr lang="en-ID" sz="900" dirty="0" err="1"/>
              <a:t>faktor</a:t>
            </a:r>
            <a:r>
              <a:rPr lang="en-ID" sz="900" dirty="0"/>
              <a:t> </a:t>
            </a:r>
            <a:r>
              <a:rPr lang="en-ID" sz="900" dirty="0" err="1"/>
              <a:t>persekutuan</a:t>
            </a:r>
            <a:r>
              <a:rPr lang="en-ID" sz="900" dirty="0"/>
              <a:t> </a:t>
            </a:r>
            <a:r>
              <a:rPr lang="en-ID" sz="900" dirty="0" err="1"/>
              <a:t>terbesar</a:t>
            </a:r>
            <a:r>
              <a:rPr lang="en-ID" sz="900" dirty="0"/>
              <a:t>, </a:t>
            </a:r>
            <a:r>
              <a:rPr lang="en-ID" sz="900" dirty="0" err="1"/>
              <a:t>serta</a:t>
            </a:r>
            <a:r>
              <a:rPr lang="en-ID" sz="900" dirty="0"/>
              <a:t> </a:t>
            </a:r>
            <a:r>
              <a:rPr lang="en-ID" sz="900" dirty="0" err="1"/>
              <a:t>kongruensi</a:t>
            </a:r>
            <a:r>
              <a:rPr lang="en-ID" sz="900" dirty="0"/>
              <a:t> linier dan </a:t>
            </a:r>
            <a:r>
              <a:rPr lang="en-ID" sz="900" dirty="0" err="1"/>
              <a:t>solusinya</a:t>
            </a:r>
            <a:r>
              <a:rPr lang="en-ID" sz="900" dirty="0"/>
              <a:t>.</a:t>
            </a:r>
          </a:p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29235" algn="l"/>
              </a:tabLst>
            </a:pP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8732999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058" y="29002"/>
            <a:ext cx="3538854" cy="3403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65" dirty="0"/>
              <a:t>Referensi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05447" y="476611"/>
            <a:ext cx="3797300" cy="24150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7480" marR="30480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lang="en-US" sz="1050" dirty="0"/>
              <a:t>K. H. Rosen, Discrete Mathematics and Its Applications, 8th Edition. McGraw-Hill, 2019.</a:t>
            </a:r>
          </a:p>
          <a:p>
            <a:pPr marL="157480" marR="30480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lang="en-ID" sz="1050" dirty="0"/>
              <a:t>S. S. Epp. </a:t>
            </a:r>
            <a:r>
              <a:rPr lang="en-ID" sz="1050" i="1" dirty="0"/>
              <a:t>Discrete Mathematics with Applications</a:t>
            </a:r>
            <a:r>
              <a:rPr lang="en-ID" sz="1050" dirty="0"/>
              <a:t>, </a:t>
            </a:r>
            <a:r>
              <a:rPr lang="en-ID" sz="1050" i="1" dirty="0"/>
              <a:t>5th Edition</a:t>
            </a:r>
            <a:r>
              <a:rPr lang="en-ID" sz="1050" dirty="0"/>
              <a:t>. Brooks/ Cole Cengage Learning, 2018 (primary supporting reference).</a:t>
            </a:r>
          </a:p>
          <a:p>
            <a:pPr marL="157480" marR="30480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lang="en-ID" sz="1050" dirty="0"/>
              <a:t>T. Jenkyns, B. Stephenson. </a:t>
            </a:r>
            <a:r>
              <a:rPr lang="en-ID" sz="1050" i="1" dirty="0"/>
              <a:t>Fundamentals of Discrete Math for Computer Science</a:t>
            </a:r>
            <a:r>
              <a:rPr lang="en-ID" sz="1050" dirty="0"/>
              <a:t>. Springer, 2013 (</a:t>
            </a:r>
            <a:r>
              <a:rPr lang="en-ID" sz="1050" b="1" dirty="0"/>
              <a:t>exercise and problem-solving reference</a:t>
            </a:r>
            <a:r>
              <a:rPr lang="en-ID" sz="1050" dirty="0"/>
              <a:t>)</a:t>
            </a:r>
            <a:endParaRPr lang="en-ID" sz="1050" b="1" dirty="0"/>
          </a:p>
          <a:p>
            <a:pPr marL="157480" marR="30480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lang="en-ID" sz="1050" dirty="0"/>
              <a:t>K. L. Bogart, R.L. Drysdale, and C. Stein. </a:t>
            </a:r>
            <a:r>
              <a:rPr lang="en-ID" sz="1050" i="1" dirty="0"/>
              <a:t>Discrete Mathematics for Computer Science</a:t>
            </a:r>
            <a:r>
              <a:rPr lang="en-ID" sz="1050" dirty="0"/>
              <a:t>. Key College Pub., 2006. </a:t>
            </a:r>
          </a:p>
          <a:p>
            <a:pPr marL="157480" marR="30480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lang="en-ID" sz="1050" dirty="0"/>
              <a:t>D. Liben-Nowell. </a:t>
            </a:r>
            <a:r>
              <a:rPr lang="en-ID" sz="1050" i="1" dirty="0"/>
              <a:t>Discrete Mathematics for Computer Science</a:t>
            </a:r>
            <a:r>
              <a:rPr lang="en-ID" sz="1050" dirty="0"/>
              <a:t>. John Wiley &amp; Sons, 2017.</a:t>
            </a:r>
          </a:p>
          <a:p>
            <a:pPr marL="157480" marR="30480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lang="en-ID" sz="1050" dirty="0"/>
              <a:t>R. Munir, </a:t>
            </a:r>
            <a:r>
              <a:rPr lang="en-ID" sz="1050" i="1" dirty="0" err="1"/>
              <a:t>Matematika</a:t>
            </a:r>
            <a:r>
              <a:rPr lang="en-ID" sz="1050" i="1" dirty="0"/>
              <a:t> </a:t>
            </a:r>
            <a:r>
              <a:rPr lang="en-ID" sz="1050" i="1" dirty="0" err="1"/>
              <a:t>Diskrit</a:t>
            </a:r>
            <a:r>
              <a:rPr lang="en-ID" sz="1050" i="1" dirty="0"/>
              <a:t> (5th edition [revised])</a:t>
            </a:r>
            <a:r>
              <a:rPr lang="en-ID" sz="1050" dirty="0"/>
              <a:t>, </a:t>
            </a:r>
            <a:r>
              <a:rPr lang="en-ID" sz="1050" dirty="0" err="1"/>
              <a:t>Informatika</a:t>
            </a:r>
            <a:r>
              <a:rPr lang="en-ID" sz="1050" dirty="0"/>
              <a:t>, 2012 (in Bahasa Indonesia).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40" dirty="0"/>
              <a:t>Penilaian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553" y="596198"/>
            <a:ext cx="4538378" cy="12352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5400" marR="76200">
              <a:lnSpc>
                <a:spcPct val="1067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Penilaian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capaian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mata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kuliah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diukur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dengan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Ujian, </a:t>
            </a:r>
            <a:r>
              <a:rPr lang="en-US" sz="1100" spc="-10" dirty="0" err="1">
                <a:latin typeface="Calibri"/>
                <a:cs typeface="Calibri"/>
              </a:rPr>
              <a:t>K</a:t>
            </a:r>
            <a:r>
              <a:rPr sz="1100" dirty="0" err="1">
                <a:latin typeface="Calibri"/>
                <a:cs typeface="Calibri"/>
              </a:rPr>
              <a:t>ui</a:t>
            </a:r>
            <a:r>
              <a:rPr lang="en-US" sz="1100" dirty="0" err="1">
                <a:latin typeface="Calibri"/>
                <a:cs typeface="Calibri"/>
              </a:rPr>
              <a:t>s</a:t>
            </a:r>
            <a:r>
              <a:rPr lang="en-US" sz="1100" dirty="0">
                <a:latin typeface="Calibri"/>
                <a:cs typeface="Calibri"/>
              </a:rPr>
              <a:t> Luring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dan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Tugas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dengan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komposisi:</a:t>
            </a:r>
            <a:endParaRPr sz="1100" dirty="0">
              <a:latin typeface="Calibri"/>
              <a:cs typeface="Calibri"/>
            </a:endParaRPr>
          </a:p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r>
              <a:rPr sz="1100" dirty="0">
                <a:latin typeface="Calibri"/>
                <a:cs typeface="Calibri"/>
              </a:rPr>
              <a:t>Sub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135" dirty="0">
                <a:latin typeface="Calibri"/>
                <a:cs typeface="Calibri"/>
              </a:rPr>
              <a:t>CLO</a:t>
            </a:r>
            <a:r>
              <a:rPr lang="en-US" sz="1100" spc="170" dirty="0">
                <a:latin typeface="Calibri"/>
                <a:cs typeface="Calibri"/>
              </a:rPr>
              <a:t> 03</a:t>
            </a:r>
            <a:r>
              <a:rPr lang="en-US" sz="1100" dirty="0">
                <a:latin typeface="Calibri"/>
                <a:cs typeface="Calibri"/>
              </a:rPr>
              <a:t>-1-1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335" dirty="0">
                <a:latin typeface="Calibri"/>
                <a:cs typeface="Calibri"/>
              </a:rPr>
              <a:t> </a:t>
            </a:r>
            <a:r>
              <a:rPr sz="1100" spc="95" dirty="0">
                <a:latin typeface="Calibri"/>
                <a:cs typeface="Calibri"/>
              </a:rPr>
              <a:t>UJIAN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50" dirty="0">
                <a:latin typeface="Calibri"/>
                <a:cs typeface="Calibri"/>
              </a:rPr>
              <a:t>(1</a:t>
            </a:r>
            <a:r>
              <a:rPr lang="en-US" sz="1100" spc="50" dirty="0">
                <a:latin typeface="Calibri"/>
                <a:cs typeface="Calibri"/>
              </a:rPr>
              <a:t>7</a:t>
            </a:r>
            <a:r>
              <a:rPr sz="1100" spc="50" dirty="0">
                <a:latin typeface="Calibri"/>
                <a:cs typeface="Calibri"/>
              </a:rPr>
              <a:t>.5%),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lang="en-US" sz="1100" spc="175" dirty="0" err="1">
                <a:latin typeface="Calibri"/>
                <a:cs typeface="Calibri"/>
              </a:rPr>
              <a:t>K</a:t>
            </a:r>
            <a:r>
              <a:rPr sz="1100" dirty="0" err="1">
                <a:latin typeface="Calibri"/>
                <a:cs typeface="Calibri"/>
              </a:rPr>
              <a:t>ui</a:t>
            </a:r>
            <a:r>
              <a:rPr lang="en-US" sz="1100" dirty="0" err="1">
                <a:latin typeface="Calibri"/>
                <a:cs typeface="Calibri"/>
              </a:rPr>
              <a:t>s</a:t>
            </a:r>
            <a:r>
              <a:rPr lang="en-US" sz="1100" dirty="0">
                <a:latin typeface="Calibri"/>
                <a:cs typeface="Calibri"/>
              </a:rPr>
              <a:t> Luring </a:t>
            </a:r>
            <a:r>
              <a:rPr sz="1100" spc="85" dirty="0">
                <a:latin typeface="Calibri"/>
                <a:cs typeface="Calibri"/>
              </a:rPr>
              <a:t>(5%),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Tugas</a:t>
            </a:r>
            <a:r>
              <a:rPr lang="en-US" sz="1100" spc="-10" dirty="0">
                <a:latin typeface="Calibri"/>
                <a:cs typeface="Calibri"/>
              </a:rPr>
              <a:t> </a:t>
            </a:r>
            <a:r>
              <a:rPr sz="1100" spc="55" dirty="0">
                <a:latin typeface="Calibri"/>
                <a:cs typeface="Calibri"/>
              </a:rPr>
              <a:t>(</a:t>
            </a:r>
            <a:r>
              <a:rPr lang="en-US" sz="1100" spc="55" dirty="0">
                <a:latin typeface="Calibri"/>
                <a:cs typeface="Calibri"/>
              </a:rPr>
              <a:t>2</a:t>
            </a:r>
            <a:r>
              <a:rPr sz="1100" spc="55" dirty="0">
                <a:latin typeface="Calibri"/>
                <a:cs typeface="Calibri"/>
              </a:rPr>
              <a:t>.5%)</a:t>
            </a:r>
            <a:endParaRPr sz="1100" dirty="0">
              <a:latin typeface="Calibri"/>
              <a:cs typeface="Calibri"/>
            </a:endParaRPr>
          </a:p>
          <a:p>
            <a:pPr marL="299085" marR="17780" indent="-120014">
              <a:lnSpc>
                <a:spcPct val="106700"/>
              </a:lnSpc>
              <a:spcBef>
                <a:spcPts val="260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r>
              <a:rPr sz="1100" dirty="0">
                <a:latin typeface="Calibri"/>
                <a:cs typeface="Calibri"/>
              </a:rPr>
              <a:t>Sub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135" dirty="0">
                <a:latin typeface="Calibri"/>
                <a:cs typeface="Calibri"/>
              </a:rPr>
              <a:t>CLO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lang="en-US" sz="1100" spc="170" dirty="0">
                <a:latin typeface="Calibri"/>
                <a:cs typeface="Calibri"/>
              </a:rPr>
              <a:t>03-1-2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335" dirty="0">
                <a:latin typeface="Calibri"/>
                <a:cs typeface="Calibri"/>
              </a:rPr>
              <a:t> </a:t>
            </a:r>
            <a:r>
              <a:rPr sz="1100" spc="95" dirty="0">
                <a:latin typeface="Calibri"/>
                <a:cs typeface="Calibri"/>
              </a:rPr>
              <a:t>UJIAN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50" dirty="0">
                <a:latin typeface="Calibri"/>
                <a:cs typeface="Calibri"/>
              </a:rPr>
              <a:t>(1</a:t>
            </a:r>
            <a:r>
              <a:rPr lang="en-US" sz="1100" spc="50" dirty="0">
                <a:latin typeface="Calibri"/>
                <a:cs typeface="Calibri"/>
              </a:rPr>
              <a:t>7</a:t>
            </a:r>
            <a:r>
              <a:rPr sz="1100" spc="50" dirty="0">
                <a:latin typeface="Calibri"/>
                <a:cs typeface="Calibri"/>
              </a:rPr>
              <a:t>.5%),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lang="en-US" sz="1100" spc="175" dirty="0" err="1">
                <a:latin typeface="Calibri"/>
                <a:cs typeface="Calibri"/>
              </a:rPr>
              <a:t>K</a:t>
            </a:r>
            <a:r>
              <a:rPr lang="en-US" sz="1100" dirty="0" err="1">
                <a:latin typeface="Calibri"/>
                <a:cs typeface="Calibri"/>
              </a:rPr>
              <a:t>uis</a:t>
            </a:r>
            <a:r>
              <a:rPr lang="en-US" sz="1100" dirty="0">
                <a:latin typeface="Calibri"/>
                <a:cs typeface="Calibri"/>
              </a:rPr>
              <a:t> Luring </a:t>
            </a:r>
            <a:r>
              <a:rPr sz="1100" spc="85" dirty="0">
                <a:latin typeface="Calibri"/>
                <a:cs typeface="Calibri"/>
              </a:rPr>
              <a:t>(5%),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Tugas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55" dirty="0">
                <a:latin typeface="Calibri"/>
                <a:cs typeface="Calibri"/>
              </a:rPr>
              <a:t>(</a:t>
            </a:r>
            <a:r>
              <a:rPr lang="en-US" sz="1100" spc="55" dirty="0">
                <a:latin typeface="Calibri"/>
                <a:cs typeface="Calibri"/>
              </a:rPr>
              <a:t>2</a:t>
            </a:r>
            <a:r>
              <a:rPr sz="1100" spc="55" dirty="0">
                <a:latin typeface="Calibri"/>
                <a:cs typeface="Calibri"/>
              </a:rPr>
              <a:t>.5%)</a:t>
            </a:r>
            <a:endParaRPr sz="1100" dirty="0">
              <a:latin typeface="Calibri"/>
              <a:cs typeface="Calibri"/>
            </a:endParaRPr>
          </a:p>
          <a:p>
            <a:pPr marL="299085" marR="17780" indent="-120014">
              <a:lnSpc>
                <a:spcPct val="106700"/>
              </a:lnSpc>
              <a:spcBef>
                <a:spcPts val="260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r>
              <a:rPr sz="1100" dirty="0">
                <a:latin typeface="Calibri"/>
                <a:cs typeface="Calibri"/>
              </a:rPr>
              <a:t>Sub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135" dirty="0">
                <a:latin typeface="Calibri"/>
                <a:cs typeface="Calibri"/>
              </a:rPr>
              <a:t>CLO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lang="en-US" sz="1100" spc="170" dirty="0">
                <a:latin typeface="Calibri"/>
                <a:cs typeface="Calibri"/>
              </a:rPr>
              <a:t>0</a:t>
            </a:r>
            <a:r>
              <a:rPr sz="1100" dirty="0">
                <a:latin typeface="Calibri"/>
                <a:cs typeface="Calibri"/>
              </a:rPr>
              <a:t>3</a:t>
            </a:r>
            <a:r>
              <a:rPr lang="en-US" sz="1100" dirty="0">
                <a:latin typeface="Calibri"/>
                <a:cs typeface="Calibri"/>
              </a:rPr>
              <a:t>-3-3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335" dirty="0">
                <a:latin typeface="Calibri"/>
                <a:cs typeface="Calibri"/>
              </a:rPr>
              <a:t> </a:t>
            </a:r>
            <a:r>
              <a:rPr sz="1100" spc="95" dirty="0">
                <a:latin typeface="Calibri"/>
                <a:cs typeface="Calibri"/>
              </a:rPr>
              <a:t>UJIAN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50" dirty="0">
                <a:latin typeface="Calibri"/>
                <a:cs typeface="Calibri"/>
              </a:rPr>
              <a:t>(1</a:t>
            </a:r>
            <a:r>
              <a:rPr lang="en-US" sz="1100" spc="50" dirty="0">
                <a:latin typeface="Calibri"/>
                <a:cs typeface="Calibri"/>
              </a:rPr>
              <a:t>7</a:t>
            </a:r>
            <a:r>
              <a:rPr sz="1100" spc="50" dirty="0">
                <a:latin typeface="Calibri"/>
                <a:cs typeface="Calibri"/>
              </a:rPr>
              <a:t>.5%),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lang="en-US" sz="1100" spc="175" dirty="0" err="1">
                <a:latin typeface="Calibri"/>
                <a:cs typeface="Calibri"/>
              </a:rPr>
              <a:t>K</a:t>
            </a:r>
            <a:r>
              <a:rPr lang="en-US" sz="1100" dirty="0" err="1">
                <a:latin typeface="Calibri"/>
                <a:cs typeface="Calibri"/>
              </a:rPr>
              <a:t>uis</a:t>
            </a:r>
            <a:r>
              <a:rPr lang="en-US" sz="1100" dirty="0">
                <a:latin typeface="Calibri"/>
                <a:cs typeface="Calibri"/>
              </a:rPr>
              <a:t> Luring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85" dirty="0">
                <a:latin typeface="Calibri"/>
                <a:cs typeface="Calibri"/>
              </a:rPr>
              <a:t>(5%),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Tugas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55" dirty="0">
                <a:latin typeface="Calibri"/>
                <a:cs typeface="Calibri"/>
              </a:rPr>
              <a:t>(</a:t>
            </a:r>
            <a:r>
              <a:rPr lang="en-US" sz="1100" spc="55" dirty="0">
                <a:latin typeface="Calibri"/>
                <a:cs typeface="Calibri"/>
              </a:rPr>
              <a:t>2</a:t>
            </a:r>
            <a:r>
              <a:rPr sz="1100" spc="55" dirty="0">
                <a:latin typeface="Calibri"/>
                <a:cs typeface="Calibri"/>
              </a:rPr>
              <a:t>.5%)</a:t>
            </a:r>
            <a:endParaRPr sz="1100" dirty="0">
              <a:latin typeface="Calibri"/>
              <a:cs typeface="Calibri"/>
            </a:endParaRPr>
          </a:p>
          <a:p>
            <a:pPr marL="299085" marR="17780" indent="-120014">
              <a:lnSpc>
                <a:spcPct val="106700"/>
              </a:lnSpc>
              <a:spcBef>
                <a:spcPts val="260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r>
              <a:rPr sz="1100" dirty="0">
                <a:latin typeface="Calibri"/>
                <a:cs typeface="Calibri"/>
              </a:rPr>
              <a:t>Sub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135" dirty="0">
                <a:latin typeface="Calibri"/>
                <a:cs typeface="Calibri"/>
              </a:rPr>
              <a:t>CLO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lang="en-US" sz="1100" spc="170" dirty="0">
                <a:latin typeface="Calibri"/>
                <a:cs typeface="Calibri"/>
              </a:rPr>
              <a:t>03-3-4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335" dirty="0">
                <a:latin typeface="Calibri"/>
                <a:cs typeface="Calibri"/>
              </a:rPr>
              <a:t> </a:t>
            </a:r>
            <a:r>
              <a:rPr sz="1100" spc="95" dirty="0">
                <a:latin typeface="Calibri"/>
                <a:cs typeface="Calibri"/>
              </a:rPr>
              <a:t>UJIAN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50" dirty="0">
                <a:latin typeface="Calibri"/>
                <a:cs typeface="Calibri"/>
              </a:rPr>
              <a:t>(1</a:t>
            </a:r>
            <a:r>
              <a:rPr lang="en-US" sz="1100" spc="50" dirty="0">
                <a:latin typeface="Calibri"/>
                <a:cs typeface="Calibri"/>
              </a:rPr>
              <a:t>7</a:t>
            </a:r>
            <a:r>
              <a:rPr sz="1100" spc="50" dirty="0">
                <a:latin typeface="Calibri"/>
                <a:cs typeface="Calibri"/>
              </a:rPr>
              <a:t>.5%),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lang="en-US" sz="1100" spc="175" dirty="0" err="1">
                <a:latin typeface="Calibri"/>
                <a:cs typeface="Calibri"/>
              </a:rPr>
              <a:t>K</a:t>
            </a:r>
            <a:r>
              <a:rPr lang="en-US" sz="1100" dirty="0" err="1">
                <a:latin typeface="Calibri"/>
                <a:cs typeface="Calibri"/>
              </a:rPr>
              <a:t>uis</a:t>
            </a:r>
            <a:r>
              <a:rPr lang="en-US" sz="1100" dirty="0">
                <a:latin typeface="Calibri"/>
                <a:cs typeface="Calibri"/>
              </a:rPr>
              <a:t> Luring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85" dirty="0">
                <a:latin typeface="Calibri"/>
                <a:cs typeface="Calibri"/>
              </a:rPr>
              <a:t>(5%),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Tugas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55" dirty="0">
                <a:latin typeface="Calibri"/>
                <a:cs typeface="Calibri"/>
              </a:rPr>
              <a:t>(</a:t>
            </a:r>
            <a:r>
              <a:rPr lang="en-US" sz="1100" spc="55" dirty="0">
                <a:latin typeface="Calibri"/>
                <a:cs typeface="Calibri"/>
              </a:rPr>
              <a:t>2</a:t>
            </a:r>
            <a:r>
              <a:rPr sz="1100" spc="55" dirty="0">
                <a:latin typeface="Calibri"/>
                <a:cs typeface="Calibri"/>
              </a:rPr>
              <a:t>.5%)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6357E-F1DC-2409-47A2-C71F1E2D7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C1FA78-D231-0E3B-A778-CF46E79C0E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53" y="80189"/>
            <a:ext cx="3538854" cy="3403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40" dirty="0" err="1"/>
              <a:t>Pe</a:t>
            </a:r>
            <a:r>
              <a:rPr lang="en-US" spc="-40" dirty="0" err="1"/>
              <a:t>laksanaan</a:t>
            </a:r>
            <a:r>
              <a:rPr lang="en-US" spc="-40" dirty="0"/>
              <a:t> </a:t>
            </a:r>
            <a:r>
              <a:rPr lang="en-US" spc="-40" dirty="0" err="1"/>
              <a:t>Asesmen</a:t>
            </a:r>
            <a:endParaRPr spc="-4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C7C07C5-5D1B-D626-F3FE-C53CADAFD8D2}"/>
              </a:ext>
            </a:extLst>
          </p:cNvPr>
          <p:cNvSpPr txBox="1"/>
          <p:nvPr/>
        </p:nvSpPr>
        <p:spPr>
          <a:xfrm>
            <a:off x="330571" y="420548"/>
            <a:ext cx="3939540" cy="271676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r>
              <a:rPr lang="en-US" sz="1200" dirty="0" err="1">
                <a:latin typeface="Calibri"/>
                <a:cs typeface="Calibri"/>
              </a:rPr>
              <a:t>Ujian</a:t>
            </a:r>
            <a:r>
              <a:rPr lang="en-US" sz="1200" dirty="0">
                <a:latin typeface="Calibri"/>
                <a:cs typeface="Calibri"/>
              </a:rPr>
              <a:t> Sub CLO 03-1-1 dan Sub CLO 03-1-2 </a:t>
            </a:r>
            <a:r>
              <a:rPr lang="en-US" sz="1200" dirty="0" err="1">
                <a:latin typeface="Calibri"/>
                <a:cs typeface="Calibri"/>
              </a:rPr>
              <a:t>dilakukan</a:t>
            </a:r>
            <a:r>
              <a:rPr lang="en-US" sz="1200" dirty="0">
                <a:latin typeface="Calibri"/>
                <a:cs typeface="Calibri"/>
              </a:rPr>
              <a:t> di </a:t>
            </a:r>
            <a:r>
              <a:rPr lang="en-US" sz="1200" dirty="0" err="1">
                <a:latin typeface="Calibri"/>
                <a:cs typeface="Calibri"/>
              </a:rPr>
              <a:t>dalam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kelas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melalui</a:t>
            </a:r>
            <a:r>
              <a:rPr lang="en-US" sz="1200" dirty="0">
                <a:latin typeface="Calibri"/>
                <a:cs typeface="Calibri"/>
              </a:rPr>
              <a:t> LMS di pekan UTS (pekan ke-8). </a:t>
            </a:r>
            <a:r>
              <a:rPr lang="en-US" sz="1200" dirty="0" err="1">
                <a:latin typeface="Calibri"/>
                <a:cs typeface="Calibri"/>
              </a:rPr>
              <a:t>Ujian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bersifat</a:t>
            </a:r>
            <a:r>
              <a:rPr lang="en-US" sz="1200" dirty="0">
                <a:latin typeface="Calibri"/>
                <a:cs typeface="Calibri"/>
              </a:rPr>
              <a:t> close book dan </a:t>
            </a:r>
            <a:r>
              <a:rPr lang="en-US" sz="1200" dirty="0" err="1">
                <a:latin typeface="Calibri"/>
                <a:cs typeface="Calibri"/>
              </a:rPr>
              <a:t>dilakukan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dalam</a:t>
            </a:r>
            <a:r>
              <a:rPr lang="en-US" sz="1200" dirty="0">
                <a:latin typeface="Calibri"/>
                <a:cs typeface="Calibri"/>
              </a:rPr>
              <a:t> dua attempt. Nilai </a:t>
            </a:r>
            <a:r>
              <a:rPr lang="en-US" sz="1200" dirty="0" err="1">
                <a:latin typeface="Calibri"/>
                <a:cs typeface="Calibri"/>
              </a:rPr>
              <a:t>diambil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dari</a:t>
            </a:r>
            <a:r>
              <a:rPr lang="en-US" sz="1200" dirty="0">
                <a:latin typeface="Calibri"/>
                <a:cs typeface="Calibri"/>
              </a:rPr>
              <a:t> attempt </a:t>
            </a:r>
            <a:r>
              <a:rPr lang="en-US" sz="1200" dirty="0" err="1">
                <a:latin typeface="Calibri"/>
                <a:cs typeface="Calibri"/>
              </a:rPr>
              <a:t>terakhir</a:t>
            </a:r>
            <a:r>
              <a:rPr lang="en-US" sz="1200" dirty="0">
                <a:latin typeface="Calibri"/>
                <a:cs typeface="Calibri"/>
              </a:rPr>
              <a:t>. Tingkat </a:t>
            </a:r>
            <a:r>
              <a:rPr lang="en-US" sz="1200" dirty="0" err="1">
                <a:latin typeface="Calibri"/>
                <a:cs typeface="Calibri"/>
              </a:rPr>
              <a:t>kesulitan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soal</a:t>
            </a:r>
            <a:r>
              <a:rPr lang="en-US" sz="1200" dirty="0">
                <a:latin typeface="Calibri"/>
                <a:cs typeface="Calibri"/>
              </a:rPr>
              <a:t>: </a:t>
            </a:r>
            <a:r>
              <a:rPr lang="en-US" sz="1200" dirty="0" err="1">
                <a:latin typeface="Calibri"/>
                <a:cs typeface="Calibri"/>
              </a:rPr>
              <a:t>sedang</a:t>
            </a:r>
            <a:r>
              <a:rPr lang="en-US" sz="1200" dirty="0">
                <a:latin typeface="Calibri"/>
                <a:cs typeface="Calibri"/>
              </a:rPr>
              <a:t> – </a:t>
            </a:r>
            <a:r>
              <a:rPr lang="en-US" sz="1200" dirty="0" err="1">
                <a:latin typeface="Calibri"/>
                <a:cs typeface="Calibri"/>
              </a:rPr>
              <a:t>sulit</a:t>
            </a:r>
            <a:r>
              <a:rPr lang="en-US" sz="1200" dirty="0">
                <a:latin typeface="Calibri"/>
                <a:cs typeface="Calibri"/>
              </a:rPr>
              <a:t>.</a:t>
            </a:r>
          </a:p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FontTx/>
              <a:buChar char="•"/>
              <a:tabLst>
                <a:tab pos="302260" algn="l"/>
              </a:tabLst>
            </a:pPr>
            <a:r>
              <a:rPr lang="en-US" sz="1200" dirty="0" err="1">
                <a:latin typeface="Calibri"/>
                <a:cs typeface="Calibri"/>
              </a:rPr>
              <a:t>Ujian</a:t>
            </a:r>
            <a:r>
              <a:rPr lang="en-US" sz="1200" dirty="0">
                <a:latin typeface="Calibri"/>
                <a:cs typeface="Calibri"/>
              </a:rPr>
              <a:t> Sub CLO 03-3-3 dan Sub CLO 03-3-4 </a:t>
            </a:r>
            <a:r>
              <a:rPr lang="en-US" sz="1200" dirty="0" err="1">
                <a:latin typeface="Calibri"/>
                <a:cs typeface="Calibri"/>
              </a:rPr>
              <a:t>dilakukan</a:t>
            </a:r>
            <a:r>
              <a:rPr lang="en-US" sz="1200" dirty="0">
                <a:latin typeface="Calibri"/>
                <a:cs typeface="Calibri"/>
              </a:rPr>
              <a:t> di </a:t>
            </a:r>
            <a:r>
              <a:rPr lang="en-US" sz="1200" dirty="0" err="1">
                <a:latin typeface="Calibri"/>
                <a:cs typeface="Calibri"/>
              </a:rPr>
              <a:t>dalam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kelas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melalui</a:t>
            </a:r>
            <a:r>
              <a:rPr lang="en-US" sz="1200" dirty="0">
                <a:latin typeface="Calibri"/>
                <a:cs typeface="Calibri"/>
              </a:rPr>
              <a:t> LMS di pekan UAS (pekan ke-16). </a:t>
            </a:r>
            <a:r>
              <a:rPr lang="en-US" sz="1200" dirty="0" err="1">
                <a:latin typeface="Calibri"/>
                <a:cs typeface="Calibri"/>
              </a:rPr>
              <a:t>Ujian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bersifat</a:t>
            </a:r>
            <a:r>
              <a:rPr lang="en-US" sz="1200" dirty="0">
                <a:latin typeface="Calibri"/>
                <a:cs typeface="Calibri"/>
              </a:rPr>
              <a:t> close book dan </a:t>
            </a:r>
            <a:r>
              <a:rPr lang="en-US" sz="1200" dirty="0" err="1">
                <a:latin typeface="Calibri"/>
                <a:cs typeface="Calibri"/>
              </a:rPr>
              <a:t>dilakukan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dalam</a:t>
            </a:r>
            <a:r>
              <a:rPr lang="en-US" sz="1200" dirty="0">
                <a:latin typeface="Calibri"/>
                <a:cs typeface="Calibri"/>
              </a:rPr>
              <a:t> dua attempt. Nilai </a:t>
            </a:r>
            <a:r>
              <a:rPr lang="en-US" sz="1200" dirty="0" err="1">
                <a:latin typeface="Calibri"/>
                <a:cs typeface="Calibri"/>
              </a:rPr>
              <a:t>diambil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dari</a:t>
            </a:r>
            <a:r>
              <a:rPr lang="en-US" sz="1200" dirty="0">
                <a:latin typeface="Calibri"/>
                <a:cs typeface="Calibri"/>
              </a:rPr>
              <a:t> attempt </a:t>
            </a:r>
            <a:r>
              <a:rPr lang="en-US" sz="1200" dirty="0" err="1">
                <a:latin typeface="Calibri"/>
                <a:cs typeface="Calibri"/>
              </a:rPr>
              <a:t>terakhir</a:t>
            </a:r>
            <a:r>
              <a:rPr lang="en-US" sz="1200" dirty="0">
                <a:latin typeface="Calibri"/>
                <a:cs typeface="Calibri"/>
              </a:rPr>
              <a:t>. Tingkat </a:t>
            </a:r>
            <a:r>
              <a:rPr lang="en-US" sz="1200" dirty="0" err="1">
                <a:latin typeface="Calibri"/>
                <a:cs typeface="Calibri"/>
              </a:rPr>
              <a:t>kesulitan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soal</a:t>
            </a:r>
            <a:r>
              <a:rPr lang="en-US" sz="1200" dirty="0">
                <a:latin typeface="Calibri"/>
                <a:cs typeface="Calibri"/>
              </a:rPr>
              <a:t>: </a:t>
            </a:r>
            <a:r>
              <a:rPr lang="en-US" sz="1200" dirty="0" err="1">
                <a:latin typeface="Calibri"/>
                <a:cs typeface="Calibri"/>
              </a:rPr>
              <a:t>sedang</a:t>
            </a:r>
            <a:r>
              <a:rPr lang="en-US" sz="1200" dirty="0">
                <a:latin typeface="Calibri"/>
                <a:cs typeface="Calibri"/>
              </a:rPr>
              <a:t> – </a:t>
            </a:r>
            <a:r>
              <a:rPr lang="en-US" sz="1200" dirty="0" err="1">
                <a:latin typeface="Calibri"/>
                <a:cs typeface="Calibri"/>
              </a:rPr>
              <a:t>sulit</a:t>
            </a:r>
            <a:r>
              <a:rPr lang="en-US" sz="1200" dirty="0">
                <a:latin typeface="Calibri"/>
                <a:cs typeface="Calibri"/>
              </a:rPr>
              <a:t>.</a:t>
            </a:r>
          </a:p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endParaRPr lang="en-US" sz="1200" dirty="0">
              <a:latin typeface="Calibri"/>
              <a:cs typeface="Calibri"/>
            </a:endParaRPr>
          </a:p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endParaRPr lang="en-US" sz="1200" dirty="0">
              <a:latin typeface="Calibri"/>
              <a:cs typeface="Calibri"/>
            </a:endParaRPr>
          </a:p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endParaRPr sz="1200" dirty="0">
              <a:latin typeface="Calibri"/>
              <a:cs typeface="Calibri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ABDE19C0-1C99-F85C-4E9D-EF42D876D964}"/>
              </a:ext>
            </a:extLst>
          </p:cNvPr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4D1F506-A255-E852-D2B0-27112A2D7CD2}"/>
                </a:ext>
              </a:extLst>
            </p:cNvPr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CADC85B-12F5-7F9E-89E8-CB4DCAF4BB4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E8DD396D-9DA7-33B4-6121-24811FFF2842}"/>
              </a:ext>
            </a:extLst>
          </p:cNvPr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1B10E9B-E30D-8153-B40C-053DF2B7F07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814413839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4251D-1633-F7A4-D38B-965BF94D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16561B-CCD3-8095-2AE7-96D0CCA4B5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53" y="80189"/>
            <a:ext cx="3538854" cy="3403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40" dirty="0" err="1"/>
              <a:t>Pe</a:t>
            </a:r>
            <a:r>
              <a:rPr lang="en-US" spc="-40" dirty="0" err="1"/>
              <a:t>laksanaan</a:t>
            </a:r>
            <a:r>
              <a:rPr lang="en-US" spc="-40" dirty="0"/>
              <a:t> </a:t>
            </a:r>
            <a:r>
              <a:rPr lang="en-US" spc="-40" dirty="0" err="1"/>
              <a:t>Asesmen</a:t>
            </a:r>
            <a:endParaRPr spc="-4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E0373E0-7D64-4071-D95F-9D41D71A3DD3}"/>
              </a:ext>
            </a:extLst>
          </p:cNvPr>
          <p:cNvSpPr txBox="1"/>
          <p:nvPr/>
        </p:nvSpPr>
        <p:spPr>
          <a:xfrm>
            <a:off x="330571" y="420548"/>
            <a:ext cx="3939540" cy="1926297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r>
              <a:rPr lang="en-US" sz="1200" dirty="0" err="1">
                <a:latin typeface="Calibri"/>
                <a:cs typeface="Calibri"/>
              </a:rPr>
              <a:t>Kuis</a:t>
            </a:r>
            <a:r>
              <a:rPr lang="en-US" sz="1200" dirty="0">
                <a:latin typeface="Calibri"/>
                <a:cs typeface="Calibri"/>
              </a:rPr>
              <a:t> luring </a:t>
            </a:r>
            <a:r>
              <a:rPr lang="en-US" sz="1200" dirty="0" err="1">
                <a:latin typeface="Calibri"/>
                <a:cs typeface="Calibri"/>
              </a:rPr>
              <a:t>diadakan</a:t>
            </a:r>
            <a:r>
              <a:rPr lang="en-US" sz="1200" dirty="0">
                <a:latin typeface="Calibri"/>
                <a:cs typeface="Calibri"/>
              </a:rPr>
              <a:t> per-Sub-CLO, </a:t>
            </a:r>
            <a:r>
              <a:rPr lang="en-US" sz="1200" dirty="0" err="1">
                <a:latin typeface="Calibri"/>
                <a:cs typeface="Calibri"/>
              </a:rPr>
              <a:t>dilakukan</a:t>
            </a:r>
            <a:r>
              <a:rPr lang="en-US" sz="1200" dirty="0">
                <a:latin typeface="Calibri"/>
                <a:cs typeface="Calibri"/>
              </a:rPr>
              <a:t> di </a:t>
            </a:r>
            <a:r>
              <a:rPr lang="en-US" sz="1200" dirty="0" err="1">
                <a:latin typeface="Calibri"/>
                <a:cs typeface="Calibri"/>
              </a:rPr>
              <a:t>dalam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kelas</a:t>
            </a:r>
            <a:r>
              <a:rPr lang="en-US" sz="1200" dirty="0">
                <a:latin typeface="Calibri"/>
                <a:cs typeface="Calibri"/>
              </a:rPr>
              <a:t>, </a:t>
            </a:r>
            <a:r>
              <a:rPr lang="en-US" sz="1200" dirty="0" err="1">
                <a:latin typeface="Calibri"/>
                <a:cs typeface="Calibri"/>
              </a:rPr>
              <a:t>tulis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tangan</a:t>
            </a:r>
            <a:r>
              <a:rPr lang="en-US" sz="1200" dirty="0">
                <a:latin typeface="Calibri"/>
                <a:cs typeface="Calibri"/>
              </a:rPr>
              <a:t>, close book. Tingkat </a:t>
            </a:r>
            <a:r>
              <a:rPr lang="en-US" sz="1200" dirty="0" err="1">
                <a:latin typeface="Calibri"/>
                <a:cs typeface="Calibri"/>
              </a:rPr>
              <a:t>kesulitan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soal</a:t>
            </a:r>
            <a:r>
              <a:rPr lang="en-US" sz="1200" dirty="0">
                <a:latin typeface="Calibri"/>
                <a:cs typeface="Calibri"/>
              </a:rPr>
              <a:t>: </a:t>
            </a:r>
            <a:r>
              <a:rPr lang="en-US" sz="1200" dirty="0" err="1">
                <a:latin typeface="Calibri"/>
                <a:cs typeface="Calibri"/>
              </a:rPr>
              <a:t>mudah-sedang</a:t>
            </a:r>
            <a:r>
              <a:rPr lang="en-US" sz="1200" dirty="0">
                <a:latin typeface="Calibri"/>
                <a:cs typeface="Calibri"/>
              </a:rPr>
              <a:t>.</a:t>
            </a:r>
          </a:p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r>
              <a:rPr lang="en-US" sz="1200" dirty="0" err="1">
                <a:latin typeface="Calibri"/>
                <a:cs typeface="Calibri"/>
              </a:rPr>
              <a:t>Tugas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berbentuk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kuis</a:t>
            </a:r>
            <a:r>
              <a:rPr lang="en-US" sz="1200" dirty="0">
                <a:latin typeface="Calibri"/>
                <a:cs typeface="Calibri"/>
              </a:rPr>
              <a:t> online </a:t>
            </a:r>
            <a:r>
              <a:rPr lang="en-US" sz="1200" dirty="0" err="1">
                <a:latin typeface="Calibri"/>
                <a:cs typeface="Calibri"/>
              </a:rPr>
              <a:t>pekanan</a:t>
            </a:r>
            <a:r>
              <a:rPr lang="en-US" sz="1200" dirty="0">
                <a:latin typeface="Calibri"/>
                <a:cs typeface="Calibri"/>
              </a:rPr>
              <a:t> di LMS, SEB dan proctoring </a:t>
            </a:r>
            <a:r>
              <a:rPr lang="en-US" sz="1200" dirty="0" err="1">
                <a:latin typeface="Calibri"/>
                <a:cs typeface="Calibri"/>
              </a:rPr>
              <a:t>aktif</a:t>
            </a:r>
            <a:r>
              <a:rPr lang="en-US" sz="1200" dirty="0">
                <a:latin typeface="Calibri"/>
                <a:cs typeface="Calibri"/>
              </a:rPr>
              <a:t>.</a:t>
            </a:r>
          </a:p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r>
              <a:rPr lang="en-US" sz="1200" dirty="0" err="1">
                <a:latin typeface="Calibri"/>
                <a:cs typeface="Calibri"/>
              </a:rPr>
              <a:t>Pengerjaan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semua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ujian</a:t>
            </a:r>
            <a:r>
              <a:rPr lang="en-US" sz="1200" dirty="0">
                <a:latin typeface="Calibri"/>
                <a:cs typeface="Calibri"/>
              </a:rPr>
              <a:t>, </a:t>
            </a:r>
            <a:r>
              <a:rPr lang="en-US" sz="1200" dirty="0" err="1">
                <a:latin typeface="Calibri"/>
                <a:cs typeface="Calibri"/>
              </a:rPr>
              <a:t>kuis</a:t>
            </a:r>
            <a:r>
              <a:rPr lang="en-US" sz="1200" dirty="0">
                <a:latin typeface="Calibri"/>
                <a:cs typeface="Calibri"/>
              </a:rPr>
              <a:t> luring, dan </a:t>
            </a:r>
            <a:r>
              <a:rPr lang="en-US" sz="1200" dirty="0" err="1">
                <a:latin typeface="Calibri"/>
                <a:cs typeface="Calibri"/>
              </a:rPr>
              <a:t>tugas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b="1" dirty="0" err="1">
                <a:latin typeface="Calibri"/>
                <a:cs typeface="Calibri"/>
              </a:rPr>
              <a:t>tidak</a:t>
            </a:r>
            <a:r>
              <a:rPr lang="en-US" sz="1200" b="1" dirty="0">
                <a:latin typeface="Calibri"/>
                <a:cs typeface="Calibri"/>
              </a:rPr>
              <a:t> </a:t>
            </a:r>
            <a:r>
              <a:rPr lang="en-US" sz="1200" b="1" dirty="0" err="1">
                <a:latin typeface="Calibri"/>
                <a:cs typeface="Calibri"/>
              </a:rPr>
              <a:t>boleh</a:t>
            </a:r>
            <a:r>
              <a:rPr lang="en-US" sz="1200" b="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dibantu</a:t>
            </a:r>
            <a:r>
              <a:rPr lang="en-US" sz="1200" dirty="0">
                <a:latin typeface="Calibri"/>
                <a:cs typeface="Calibri"/>
              </a:rPr>
              <a:t> oleh </a:t>
            </a:r>
            <a:r>
              <a:rPr lang="en-US" sz="1200" dirty="0" err="1">
                <a:latin typeface="Calibri"/>
                <a:cs typeface="Calibri"/>
              </a:rPr>
              <a:t>kecerdasan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buatan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atau</a:t>
            </a:r>
            <a:r>
              <a:rPr lang="en-US" sz="1200" dirty="0">
                <a:latin typeface="Calibri"/>
                <a:cs typeface="Calibri"/>
              </a:rPr>
              <a:t> AI. </a:t>
            </a:r>
          </a:p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endParaRPr lang="en-US" sz="1200" dirty="0">
              <a:latin typeface="Calibri"/>
              <a:cs typeface="Calibri"/>
            </a:endParaRPr>
          </a:p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endParaRPr sz="1200" dirty="0">
              <a:latin typeface="Calibri"/>
              <a:cs typeface="Calibri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60DFD095-0771-762C-8DA7-C210BE001DC1}"/>
              </a:ext>
            </a:extLst>
          </p:cNvPr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3503661-4101-327B-7EB9-AF8EDAD9E0B9}"/>
                </a:ext>
              </a:extLst>
            </p:cNvPr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C2FD475-7B30-5C5C-A386-411375E4949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DAD9FD8-DB6D-7B19-EAF8-B8BF8FE5F7AC}"/>
              </a:ext>
            </a:extLst>
          </p:cNvPr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518215F-5958-1809-0AFC-BF571EEBFFC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433902458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253E9-B828-2B28-0805-0C8578D08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29374EA-BB34-DA90-7098-AB770DD23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53" y="80189"/>
            <a:ext cx="3538854" cy="3403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pc="-40" dirty="0"/>
              <a:t>Deadline </a:t>
            </a:r>
            <a:r>
              <a:rPr lang="en-US" spc="-40" dirty="0" err="1"/>
              <a:t>Penilaian</a:t>
            </a:r>
            <a:r>
              <a:rPr lang="en-US" spc="-40" dirty="0"/>
              <a:t> </a:t>
            </a:r>
            <a:r>
              <a:rPr lang="en-US" spc="-40" dirty="0" err="1"/>
              <a:t>Asesmen</a:t>
            </a:r>
            <a:endParaRPr spc="-4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3D01FAA-C82E-3AE0-4C5F-4379B7D09EDD}"/>
              </a:ext>
            </a:extLst>
          </p:cNvPr>
          <p:cNvSpPr txBox="1"/>
          <p:nvPr/>
        </p:nvSpPr>
        <p:spPr>
          <a:xfrm>
            <a:off x="330571" y="420548"/>
            <a:ext cx="3939540" cy="1492588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r>
              <a:rPr lang="en-US" sz="1200" dirty="0">
                <a:latin typeface="Calibri"/>
                <a:cs typeface="Calibri"/>
              </a:rPr>
              <a:t>Nilai </a:t>
            </a:r>
            <a:r>
              <a:rPr lang="en-US" sz="1200" dirty="0" err="1">
                <a:latin typeface="Calibri"/>
                <a:cs typeface="Calibri"/>
              </a:rPr>
              <a:t>Ujian</a:t>
            </a:r>
            <a:r>
              <a:rPr lang="en-US" sz="1200" dirty="0">
                <a:latin typeface="Calibri"/>
                <a:cs typeface="Calibri"/>
              </a:rPr>
              <a:t> Sub CLO dan </a:t>
            </a:r>
            <a:r>
              <a:rPr lang="en-US" sz="1200" dirty="0" err="1">
                <a:latin typeface="Calibri"/>
                <a:cs typeface="Calibri"/>
              </a:rPr>
              <a:t>tugas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kuis</a:t>
            </a:r>
            <a:r>
              <a:rPr lang="en-US" sz="1200" dirty="0">
                <a:latin typeface="Calibri"/>
                <a:cs typeface="Calibri"/>
              </a:rPr>
              <a:t> online </a:t>
            </a:r>
            <a:r>
              <a:rPr lang="en-US" sz="1200" dirty="0" err="1">
                <a:latin typeface="Calibri"/>
                <a:cs typeface="Calibri"/>
              </a:rPr>
              <a:t>akan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langsung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tampil</a:t>
            </a:r>
            <a:r>
              <a:rPr lang="en-US" sz="1200" dirty="0">
                <a:latin typeface="Calibri"/>
                <a:cs typeface="Calibri"/>
              </a:rPr>
              <a:t> di LMS </a:t>
            </a:r>
            <a:r>
              <a:rPr lang="en-US" sz="1200" dirty="0" err="1">
                <a:latin typeface="Calibri"/>
                <a:cs typeface="Calibri"/>
              </a:rPr>
              <a:t>sesaat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setelah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ujian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berakhir</a:t>
            </a:r>
            <a:r>
              <a:rPr lang="en-US" sz="1200" dirty="0">
                <a:latin typeface="Calibri"/>
                <a:cs typeface="Calibri"/>
              </a:rPr>
              <a:t>.</a:t>
            </a:r>
          </a:p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r>
              <a:rPr lang="en-US" sz="1200" dirty="0">
                <a:latin typeface="Calibri"/>
                <a:cs typeface="Calibri"/>
              </a:rPr>
              <a:t>Deadline </a:t>
            </a:r>
            <a:r>
              <a:rPr lang="en-US" sz="1200" dirty="0" err="1">
                <a:latin typeface="Calibri"/>
                <a:cs typeface="Calibri"/>
              </a:rPr>
              <a:t>penilaian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Kuis</a:t>
            </a:r>
            <a:r>
              <a:rPr lang="en-US" sz="1200" dirty="0">
                <a:latin typeface="Calibri"/>
                <a:cs typeface="Calibri"/>
              </a:rPr>
              <a:t> luring per-Sub-CLO yang </a:t>
            </a:r>
            <a:r>
              <a:rPr lang="en-US" sz="1200" dirty="0" err="1">
                <a:latin typeface="Calibri"/>
                <a:cs typeface="Calibri"/>
              </a:rPr>
              <a:t>dilaksanakan</a:t>
            </a:r>
            <a:r>
              <a:rPr lang="en-US" sz="1200" dirty="0">
                <a:latin typeface="Calibri"/>
                <a:cs typeface="Calibri"/>
              </a:rPr>
              <a:t> di </a:t>
            </a:r>
            <a:r>
              <a:rPr lang="en-US" sz="1200" dirty="0" err="1">
                <a:latin typeface="Calibri"/>
                <a:cs typeface="Calibri"/>
              </a:rPr>
              <a:t>kelas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adalah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maksimum</a:t>
            </a:r>
            <a:r>
              <a:rPr lang="en-US" sz="1200" dirty="0">
                <a:latin typeface="Calibri"/>
                <a:cs typeface="Calibri"/>
              </a:rPr>
              <a:t> 14 </a:t>
            </a:r>
            <a:r>
              <a:rPr lang="en-US" sz="1200" dirty="0" err="1">
                <a:latin typeface="Calibri"/>
                <a:cs typeface="Calibri"/>
              </a:rPr>
              <a:t>hari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setelah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pelaksanaan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kuis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tersebut</a:t>
            </a:r>
            <a:r>
              <a:rPr lang="en-US" sz="1200" dirty="0">
                <a:latin typeface="Calibri"/>
                <a:cs typeface="Calibri"/>
              </a:rPr>
              <a:t>. </a:t>
            </a:r>
          </a:p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endParaRPr lang="en-US" sz="1200" dirty="0">
              <a:latin typeface="Calibri"/>
              <a:cs typeface="Calibri"/>
            </a:endParaRPr>
          </a:p>
          <a:p>
            <a:pPr marL="299085" marR="17780" indent="-120014">
              <a:lnSpc>
                <a:spcPct val="106700"/>
              </a:lnSpc>
              <a:spcBef>
                <a:spcPts val="265"/>
              </a:spcBef>
              <a:buClr>
                <a:srgbClr val="182E68"/>
              </a:buClr>
              <a:buSzPct val="57142"/>
              <a:buChar char="•"/>
              <a:tabLst>
                <a:tab pos="302260" algn="l"/>
              </a:tabLst>
            </a:pPr>
            <a:endParaRPr sz="1200" dirty="0">
              <a:latin typeface="Calibri"/>
              <a:cs typeface="Calibri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8C8CC57F-BFE6-489A-3A56-67C1E1979BD3}"/>
              </a:ext>
            </a:extLst>
          </p:cNvPr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0E941CA-2C81-78F9-63D2-C8CCC7CF35B9}"/>
                </a:ext>
              </a:extLst>
            </p:cNvPr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EC9DE29F-0DB1-4D9F-C69C-CB933C9EB87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C5AB7BE9-16AC-9299-6B92-E3D91D5A6B8D}"/>
              </a:ext>
            </a:extLst>
          </p:cNvPr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7603A7B-714D-7BFC-18D1-CEE02DF2037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474109357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pc="-50" dirty="0" err="1"/>
              <a:t>Ujian</a:t>
            </a:r>
            <a:r>
              <a:rPr lang="en-US" spc="-50" dirty="0"/>
              <a:t> </a:t>
            </a:r>
            <a:r>
              <a:rPr lang="en-US" spc="-50" dirty="0" err="1"/>
              <a:t>Susulan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75297" y="797887"/>
            <a:ext cx="3657600" cy="1970026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7480" marR="149225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lang="en-US" sz="1200" dirty="0" err="1">
                <a:latin typeface="Calibri"/>
                <a:cs typeface="Calibri"/>
              </a:rPr>
              <a:t>Ujian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susulan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diberikan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kepada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mahasiswa</a:t>
            </a:r>
            <a:r>
              <a:rPr lang="en-US" sz="1200" dirty="0">
                <a:latin typeface="Calibri"/>
                <a:cs typeface="Calibri"/>
              </a:rPr>
              <a:t> yang </a:t>
            </a:r>
            <a:r>
              <a:rPr lang="en-US" sz="1200" dirty="0" err="1">
                <a:latin typeface="Calibri"/>
                <a:cs typeface="Calibri"/>
              </a:rPr>
              <a:t>tidak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dapat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mengikuti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ujian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dengan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alasan</a:t>
            </a:r>
            <a:r>
              <a:rPr lang="en-US" sz="1200" dirty="0">
                <a:latin typeface="Calibri"/>
                <a:cs typeface="Calibri"/>
              </a:rPr>
              <a:t> yang </a:t>
            </a:r>
            <a:r>
              <a:rPr lang="en-US" sz="1200" dirty="0" err="1">
                <a:latin typeface="Calibri"/>
                <a:cs typeface="Calibri"/>
              </a:rPr>
              <a:t>dapat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dibenarkan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sesuai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aturan</a:t>
            </a:r>
            <a:r>
              <a:rPr lang="en-US" sz="1200" dirty="0">
                <a:latin typeface="Calibri"/>
                <a:cs typeface="Calibri"/>
              </a:rPr>
              <a:t> universitas.</a:t>
            </a:r>
          </a:p>
          <a:p>
            <a:pPr marL="157480" marR="149225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lang="en-US" sz="1200" dirty="0" err="1">
                <a:latin typeface="Calibri"/>
                <a:cs typeface="Calibri"/>
              </a:rPr>
              <a:t>Ujian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susulan</a:t>
            </a:r>
            <a:r>
              <a:rPr lang="en-US" sz="1200" dirty="0">
                <a:latin typeface="Calibri"/>
                <a:cs typeface="Calibri"/>
              </a:rPr>
              <a:t> Sub CLO 03-1-1 dan Sub CLO-03-1-2 </a:t>
            </a:r>
            <a:r>
              <a:rPr lang="en-US" sz="1200" dirty="0" err="1">
                <a:latin typeface="Calibri"/>
                <a:cs typeface="Calibri"/>
              </a:rPr>
              <a:t>dilaksanakan</a:t>
            </a:r>
            <a:r>
              <a:rPr lang="en-US" sz="1200" dirty="0">
                <a:latin typeface="Calibri"/>
                <a:cs typeface="Calibri"/>
              </a:rPr>
              <a:t> onsite dan </a:t>
            </a:r>
            <a:r>
              <a:rPr lang="en-US" sz="1200" dirty="0" err="1">
                <a:latin typeface="Calibri"/>
                <a:cs typeface="Calibri"/>
              </a:rPr>
              <a:t>dikoordinasi</a:t>
            </a:r>
            <a:r>
              <a:rPr lang="en-US" sz="1200" dirty="0">
                <a:latin typeface="Calibri"/>
                <a:cs typeface="Calibri"/>
              </a:rPr>
              <a:t> oleh </a:t>
            </a:r>
            <a:r>
              <a:rPr lang="en-US" sz="1200" dirty="0" err="1">
                <a:latin typeface="Calibri"/>
                <a:cs typeface="Calibri"/>
              </a:rPr>
              <a:t>dosen</a:t>
            </a:r>
            <a:r>
              <a:rPr lang="en-US" sz="1200" dirty="0">
                <a:latin typeface="Calibri"/>
                <a:cs typeface="Calibri"/>
              </a:rPr>
              <a:t> masing-masing </a:t>
            </a:r>
            <a:r>
              <a:rPr lang="en-US" sz="1200" dirty="0" err="1">
                <a:latin typeface="Calibri"/>
                <a:cs typeface="Calibri"/>
              </a:rPr>
              <a:t>kelas</a:t>
            </a:r>
            <a:r>
              <a:rPr lang="en-US" sz="1200" dirty="0">
                <a:latin typeface="Calibri"/>
                <a:cs typeface="Calibri"/>
              </a:rPr>
              <a:t>. </a:t>
            </a:r>
            <a:r>
              <a:rPr lang="en-US" sz="1200" dirty="0" err="1">
                <a:latin typeface="Calibri"/>
                <a:cs typeface="Calibri"/>
              </a:rPr>
              <a:t>Sedangkan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ujian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susulan</a:t>
            </a:r>
            <a:r>
              <a:rPr lang="en-US" sz="1200" dirty="0">
                <a:latin typeface="Calibri"/>
                <a:cs typeface="Calibri"/>
              </a:rPr>
              <a:t> Sub CLO 03-3-3 dan Sub CLO 03-3-4 </a:t>
            </a:r>
            <a:r>
              <a:rPr lang="en-US" sz="1200" dirty="0" err="1">
                <a:latin typeface="Calibri"/>
                <a:cs typeface="Calibri"/>
              </a:rPr>
              <a:t>dilaksanakan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setelah</a:t>
            </a:r>
            <a:r>
              <a:rPr lang="en-US" sz="1200" dirty="0">
                <a:latin typeface="Calibri"/>
                <a:cs typeface="Calibri"/>
              </a:rPr>
              <a:t> pekan UAS dan </a:t>
            </a:r>
            <a:r>
              <a:rPr lang="en-US" sz="1200" dirty="0" err="1">
                <a:latin typeface="Calibri"/>
                <a:cs typeface="Calibri"/>
              </a:rPr>
              <a:t>dikoordinasi</a:t>
            </a:r>
            <a:r>
              <a:rPr lang="en-US" sz="1200" dirty="0">
                <a:latin typeface="Calibri"/>
                <a:cs typeface="Calibri"/>
              </a:rPr>
              <a:t> oleh </a:t>
            </a:r>
            <a:r>
              <a:rPr lang="en-US" sz="1200" dirty="0" err="1">
                <a:latin typeface="Calibri"/>
                <a:cs typeface="Calibri"/>
              </a:rPr>
              <a:t>dosen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koordinator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mata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kuliah</a:t>
            </a:r>
            <a:r>
              <a:rPr lang="en-US" sz="1200" dirty="0">
                <a:latin typeface="Calibri"/>
                <a:cs typeface="Calibri"/>
              </a:rPr>
              <a:t>.</a:t>
            </a:r>
          </a:p>
          <a:p>
            <a:pPr marL="157480" marR="149225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endParaRPr lang="en-US" sz="12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41DD2-E3DF-EFC1-3182-998C75805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173BC6-0C5B-82C0-134E-3401EE79F5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pc="-50" dirty="0" err="1"/>
              <a:t>Ujian</a:t>
            </a:r>
            <a:r>
              <a:rPr lang="en-US" spc="-50" dirty="0"/>
              <a:t> Remedial</a:t>
            </a:r>
            <a:endParaRPr spc="-5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76955B6-E838-C54F-1AE5-024FD5CC8158}"/>
              </a:ext>
            </a:extLst>
          </p:cNvPr>
          <p:cNvSpPr txBox="1"/>
          <p:nvPr/>
        </p:nvSpPr>
        <p:spPr>
          <a:xfrm>
            <a:off x="475297" y="797887"/>
            <a:ext cx="3657600" cy="2758512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7480" marR="149225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lang="en-US" sz="1400" dirty="0" err="1">
                <a:latin typeface="Calibri"/>
                <a:cs typeface="Calibri"/>
              </a:rPr>
              <a:t>Ujian</a:t>
            </a:r>
            <a:r>
              <a:rPr lang="en-US" sz="1400" dirty="0">
                <a:latin typeface="Calibri"/>
                <a:cs typeface="Calibri"/>
              </a:rPr>
              <a:t> remedial </a:t>
            </a:r>
            <a:r>
              <a:rPr lang="en-US" sz="1400" dirty="0" err="1">
                <a:latin typeface="Calibri"/>
                <a:cs typeface="Calibri"/>
              </a:rPr>
              <a:t>diberikan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kepada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mahasiswa</a:t>
            </a:r>
            <a:r>
              <a:rPr lang="en-US" sz="1400" dirty="0">
                <a:latin typeface="Calibri"/>
                <a:cs typeface="Calibri"/>
              </a:rPr>
              <a:t> yang </a:t>
            </a:r>
            <a:r>
              <a:rPr lang="en-US" sz="1400" dirty="0" err="1">
                <a:latin typeface="Calibri"/>
                <a:cs typeface="Calibri"/>
              </a:rPr>
              <a:t>nilai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ujiannya</a:t>
            </a:r>
            <a:r>
              <a:rPr lang="en-US" sz="1400" dirty="0">
                <a:latin typeface="Calibri"/>
                <a:cs typeface="Calibri"/>
              </a:rPr>
              <a:t> (</a:t>
            </a:r>
            <a:r>
              <a:rPr lang="en-US" sz="1400" dirty="0" err="1">
                <a:latin typeface="Calibri"/>
                <a:cs typeface="Calibri"/>
              </a:rPr>
              <a:t>atau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ujian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susulannya</a:t>
            </a:r>
            <a:r>
              <a:rPr lang="en-US" sz="1400" dirty="0">
                <a:latin typeface="Calibri"/>
                <a:cs typeface="Calibri"/>
              </a:rPr>
              <a:t>) di </a:t>
            </a:r>
            <a:r>
              <a:rPr lang="en-US" sz="1400" dirty="0" err="1">
                <a:latin typeface="Calibri"/>
                <a:cs typeface="Calibri"/>
              </a:rPr>
              <a:t>bawah</a:t>
            </a:r>
            <a:r>
              <a:rPr lang="en-US" sz="1400" dirty="0">
                <a:latin typeface="Calibri"/>
                <a:cs typeface="Calibri"/>
              </a:rPr>
              <a:t> 60 </a:t>
            </a:r>
            <a:r>
              <a:rPr lang="en-US" sz="1400" dirty="0" err="1">
                <a:latin typeface="Calibri"/>
                <a:cs typeface="Calibri"/>
              </a:rPr>
              <a:t>untuk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suatu</a:t>
            </a:r>
            <a:r>
              <a:rPr lang="en-US" sz="1400" dirty="0">
                <a:latin typeface="Calibri"/>
                <a:cs typeface="Calibri"/>
              </a:rPr>
              <a:t> Sub CLO.</a:t>
            </a:r>
          </a:p>
          <a:p>
            <a:pPr marL="157480" marR="149225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lang="en-US" sz="1400" dirty="0" err="1">
                <a:latin typeface="Calibri"/>
                <a:cs typeface="Calibri"/>
              </a:rPr>
              <a:t>Syarat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mengikuti</a:t>
            </a:r>
            <a:r>
              <a:rPr lang="en-US" sz="1400" dirty="0">
                <a:latin typeface="Calibri"/>
                <a:cs typeface="Calibri"/>
              </a:rPr>
              <a:t> remedial </a:t>
            </a:r>
            <a:r>
              <a:rPr lang="en-US" sz="1400" dirty="0" err="1">
                <a:latin typeface="Calibri"/>
                <a:cs typeface="Calibri"/>
              </a:rPr>
              <a:t>ujian</a:t>
            </a:r>
            <a:r>
              <a:rPr lang="en-US" sz="1400" dirty="0">
                <a:latin typeface="Calibri"/>
                <a:cs typeface="Calibri"/>
              </a:rPr>
              <a:t> Sub CLO </a:t>
            </a:r>
            <a:r>
              <a:rPr lang="en-US" sz="1400" dirty="0" err="1">
                <a:latin typeface="Calibri"/>
                <a:cs typeface="Calibri"/>
              </a:rPr>
              <a:t>adalah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kehadiran</a:t>
            </a:r>
            <a:r>
              <a:rPr lang="en-US" sz="1400" dirty="0">
                <a:latin typeface="Calibri"/>
                <a:cs typeface="Calibri"/>
              </a:rPr>
              <a:t> di </a:t>
            </a:r>
            <a:r>
              <a:rPr lang="en-US" sz="1400" dirty="0" err="1">
                <a:latin typeface="Calibri"/>
                <a:cs typeface="Calibri"/>
              </a:rPr>
              <a:t>perkuliahan</a:t>
            </a:r>
            <a:r>
              <a:rPr lang="en-US" sz="1400" dirty="0">
                <a:latin typeface="Calibri"/>
                <a:cs typeface="Calibri"/>
              </a:rPr>
              <a:t> Sub CLO </a:t>
            </a:r>
            <a:r>
              <a:rPr lang="en-US" sz="1400" dirty="0" err="1">
                <a:latin typeface="Calibri"/>
                <a:cs typeface="Calibri"/>
              </a:rPr>
              <a:t>tersebut</a:t>
            </a:r>
            <a:r>
              <a:rPr lang="en-US" sz="1400" dirty="0">
                <a:latin typeface="Calibri"/>
                <a:cs typeface="Calibri"/>
              </a:rPr>
              <a:t> minimal 75%.</a:t>
            </a:r>
          </a:p>
          <a:p>
            <a:pPr marL="157480" marR="149225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lang="en-US" sz="1400" dirty="0" err="1">
                <a:latin typeface="Calibri"/>
                <a:cs typeface="Calibri"/>
              </a:rPr>
              <a:t>Redemial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dilaksanakan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secara</a:t>
            </a:r>
            <a:r>
              <a:rPr lang="en-US" sz="1400" dirty="0">
                <a:latin typeface="Calibri"/>
                <a:cs typeface="Calibri"/>
              </a:rPr>
              <a:t> online, </a:t>
            </a:r>
            <a:r>
              <a:rPr lang="en-US" sz="1400" dirty="0" err="1">
                <a:latin typeface="Calibri"/>
                <a:cs typeface="Calibri"/>
              </a:rPr>
              <a:t>menggunakan</a:t>
            </a:r>
            <a:r>
              <a:rPr lang="en-US" sz="1400" dirty="0">
                <a:latin typeface="Calibri"/>
                <a:cs typeface="Calibri"/>
              </a:rPr>
              <a:t> SEB dan proctoring.</a:t>
            </a:r>
          </a:p>
          <a:p>
            <a:pPr marL="157480" marR="149225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lang="en-US" sz="1400" dirty="0">
                <a:latin typeface="Calibri"/>
                <a:cs typeface="Calibri"/>
              </a:rPr>
              <a:t>Nilai </a:t>
            </a:r>
            <a:r>
              <a:rPr lang="en-US" sz="1400" dirty="0" err="1">
                <a:latin typeface="Calibri"/>
                <a:cs typeface="Calibri"/>
              </a:rPr>
              <a:t>maksimum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untuk</a:t>
            </a:r>
            <a:r>
              <a:rPr lang="en-US" sz="1400" dirty="0">
                <a:latin typeface="Calibri"/>
                <a:cs typeface="Calibri"/>
              </a:rPr>
              <a:t> remedial (</a:t>
            </a:r>
            <a:r>
              <a:rPr lang="en-US" sz="1400" dirty="0" err="1">
                <a:latin typeface="Calibri"/>
                <a:cs typeface="Calibri"/>
              </a:rPr>
              <a:t>jika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jawaban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benar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semua</a:t>
            </a:r>
            <a:r>
              <a:rPr lang="en-US" sz="1400" dirty="0">
                <a:latin typeface="Calibri"/>
                <a:cs typeface="Calibri"/>
              </a:rPr>
              <a:t>) </a:t>
            </a:r>
            <a:r>
              <a:rPr lang="en-US" sz="1400" dirty="0" err="1">
                <a:latin typeface="Calibri"/>
                <a:cs typeface="Calibri"/>
              </a:rPr>
              <a:t>adalah</a:t>
            </a:r>
            <a:r>
              <a:rPr lang="en-US" sz="1400" dirty="0">
                <a:latin typeface="Calibri"/>
                <a:cs typeface="Calibri"/>
              </a:rPr>
              <a:t> 60.</a:t>
            </a:r>
          </a:p>
          <a:p>
            <a:pPr marL="157480" marR="149225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endParaRPr lang="en-US" sz="1400" dirty="0">
              <a:latin typeface="Calibri"/>
              <a:cs typeface="Calibri"/>
            </a:endParaRPr>
          </a:p>
          <a:p>
            <a:pPr marL="157480" marR="149225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endParaRPr lang="en-US" sz="1400" dirty="0">
              <a:latin typeface="Calibri"/>
              <a:cs typeface="Calibri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627D6319-B85B-F270-8AFA-B4AFDA71A079}"/>
              </a:ext>
            </a:extLst>
          </p:cNvPr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56CE540-16B7-8E8E-7934-B6D94FB92791}"/>
                </a:ext>
              </a:extLst>
            </p:cNvPr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0F2CCBDB-DE8C-DC9F-59F2-369FA0170DA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6B6FC69-7D3B-3202-0C6F-03B6D2A7155A}"/>
              </a:ext>
            </a:extLst>
          </p:cNvPr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DBBC1E7-C71D-C517-82F7-024C04A4807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80178022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Nilai</a:t>
            </a:r>
            <a:r>
              <a:rPr spc="110" dirty="0"/>
              <a:t> </a:t>
            </a:r>
            <a:r>
              <a:rPr spc="-20" dirty="0"/>
              <a:t>Akhir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260" y="852989"/>
            <a:ext cx="2703409" cy="9985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1357" y="1922345"/>
            <a:ext cx="3266440" cy="914417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32080" marR="5080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35255" algn="l"/>
              </a:tabLst>
            </a:pPr>
            <a:r>
              <a:rPr sz="1400" dirty="0">
                <a:latin typeface="Calibri"/>
                <a:cs typeface="Calibri"/>
              </a:rPr>
              <a:t>Nilai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ini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bersifat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final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dalam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arti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tidak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ada 	</a:t>
            </a:r>
            <a:r>
              <a:rPr sz="1400" spc="-10" dirty="0">
                <a:latin typeface="Calibri"/>
                <a:cs typeface="Calibri"/>
              </a:rPr>
              <a:t>komponen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tambahan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lain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yang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akan 	</a:t>
            </a:r>
            <a:r>
              <a:rPr sz="1400" spc="-10" dirty="0" err="1">
                <a:latin typeface="Calibri"/>
                <a:cs typeface="Calibri"/>
              </a:rPr>
              <a:t>mempengaruhi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 err="1">
                <a:latin typeface="Calibri"/>
                <a:cs typeface="Calibri"/>
              </a:rPr>
              <a:t>nilai</a:t>
            </a:r>
            <a:r>
              <a:rPr lang="en-US" sz="1400" spc="-10" dirty="0">
                <a:latin typeface="Calibri"/>
                <a:cs typeface="Calibri"/>
              </a:rPr>
              <a:t> </a:t>
            </a:r>
            <a:r>
              <a:rPr lang="en-US" sz="1400" spc="-10" dirty="0" err="1">
                <a:latin typeface="Calibri"/>
                <a:cs typeface="Calibri"/>
              </a:rPr>
              <a:t>setelah</a:t>
            </a:r>
            <a:r>
              <a:rPr lang="en-US" sz="1400" spc="-10" dirty="0">
                <a:latin typeface="Calibri"/>
                <a:cs typeface="Calibri"/>
              </a:rPr>
              <a:t> </a:t>
            </a:r>
            <a:r>
              <a:rPr lang="en-US" sz="1400" spc="-10" dirty="0" err="1">
                <a:latin typeface="Calibri"/>
                <a:cs typeface="Calibri"/>
              </a:rPr>
              <a:t>nilai</a:t>
            </a:r>
            <a:r>
              <a:rPr lang="en-US" sz="1400" spc="-10" dirty="0">
                <a:latin typeface="Calibri"/>
                <a:cs typeface="Calibri"/>
              </a:rPr>
              <a:t> </a:t>
            </a:r>
            <a:r>
              <a:rPr lang="en-US" sz="1400" spc="-10" dirty="0" err="1">
                <a:latin typeface="Calibri"/>
                <a:cs typeface="Calibri"/>
              </a:rPr>
              <a:t>akhir</a:t>
            </a:r>
            <a:r>
              <a:rPr lang="en-US" sz="1400" spc="-10" dirty="0">
                <a:latin typeface="Calibri"/>
                <a:cs typeface="Calibri"/>
              </a:rPr>
              <a:t> </a:t>
            </a:r>
            <a:r>
              <a:rPr lang="en-US" sz="1400" spc="-10" dirty="0" err="1">
                <a:latin typeface="Calibri"/>
                <a:cs typeface="Calibri"/>
              </a:rPr>
              <a:t>dikeluarkan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6" name="object 6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4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4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424" y="243643"/>
            <a:ext cx="2991585" cy="3302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pc="-50" dirty="0" err="1"/>
              <a:t>Aturan</a:t>
            </a:r>
            <a:r>
              <a:rPr lang="en-US" spc="-50" dirty="0"/>
              <a:t> </a:t>
            </a:r>
            <a:r>
              <a:rPr spc="-50" dirty="0" err="1"/>
              <a:t>Pertemuan</a:t>
            </a:r>
            <a:r>
              <a:rPr spc="45" dirty="0"/>
              <a:t> </a:t>
            </a:r>
            <a:r>
              <a:rPr dirty="0"/>
              <a:t>di</a:t>
            </a:r>
            <a:r>
              <a:rPr spc="40" dirty="0"/>
              <a:t> </a:t>
            </a:r>
            <a:r>
              <a:rPr spc="-45" dirty="0"/>
              <a:t>kelas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417" y="536062"/>
            <a:ext cx="3769360" cy="2614947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58115" indent="-120014">
              <a:lnSpc>
                <a:spcPct val="100000"/>
              </a:lnSpc>
              <a:spcBef>
                <a:spcPts val="505"/>
              </a:spcBef>
              <a:buClr>
                <a:srgbClr val="182E68"/>
              </a:buClr>
              <a:buSzPct val="57142"/>
              <a:buChar char="•"/>
              <a:tabLst>
                <a:tab pos="158115" algn="l"/>
              </a:tabLst>
            </a:pPr>
            <a:r>
              <a:rPr sz="1200" dirty="0" err="1">
                <a:latin typeface="Calibri"/>
                <a:cs typeface="Calibri"/>
              </a:rPr>
              <a:t>Pertemuan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satu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kali</a:t>
            </a:r>
            <a:r>
              <a:rPr sz="1200" spc="85" dirty="0">
                <a:latin typeface="Calibri"/>
                <a:cs typeface="Calibri"/>
              </a:rPr>
              <a:t> </a:t>
            </a:r>
            <a:r>
              <a:rPr sz="1200" dirty="0" err="1">
                <a:latin typeface="Calibri"/>
                <a:cs typeface="Calibri"/>
              </a:rPr>
              <a:t>seminggu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dirty="0" err="1">
                <a:latin typeface="Calibri"/>
                <a:cs typeface="Calibri"/>
              </a:rPr>
              <a:t>sesuai</a:t>
            </a:r>
            <a:r>
              <a:rPr sz="1200" spc="8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jadwal</a:t>
            </a:r>
            <a:endParaRPr sz="1200" dirty="0">
              <a:latin typeface="Calibri"/>
              <a:cs typeface="Calibri"/>
            </a:endParaRPr>
          </a:p>
          <a:p>
            <a:pPr marL="157480" marR="1061085" indent="-120014">
              <a:lnSpc>
                <a:spcPct val="106700"/>
              </a:lnSpc>
              <a:spcBef>
                <a:spcPts val="30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sz="1200" dirty="0">
                <a:latin typeface="Calibri"/>
                <a:cs typeface="Calibri"/>
              </a:rPr>
              <a:t>Wajib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hadir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tepat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waktu,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spc="-10" dirty="0" err="1">
                <a:latin typeface="Calibri"/>
                <a:cs typeface="Calibri"/>
              </a:rPr>
              <a:t>tolera</a:t>
            </a:r>
            <a:r>
              <a:rPr lang="en-ID" sz="1200" spc="-10" dirty="0" err="1">
                <a:latin typeface="Calibri"/>
                <a:cs typeface="Calibri"/>
              </a:rPr>
              <a:t>nsi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	</a:t>
            </a:r>
            <a:r>
              <a:rPr sz="1200" dirty="0">
                <a:latin typeface="Calibri"/>
                <a:cs typeface="Calibri"/>
              </a:rPr>
              <a:t>keterlambatan</a:t>
            </a:r>
            <a:r>
              <a:rPr sz="1200" spc="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229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10</a:t>
            </a:r>
            <a:r>
              <a:rPr sz="1200" spc="100" dirty="0">
                <a:latin typeface="Calibri"/>
                <a:cs typeface="Calibri"/>
              </a:rPr>
              <a:t> </a:t>
            </a:r>
            <a:r>
              <a:rPr sz="1200" spc="-10" dirty="0" err="1">
                <a:latin typeface="Calibri"/>
                <a:cs typeface="Calibri"/>
              </a:rPr>
              <a:t>menit</a:t>
            </a:r>
            <a:endParaRPr lang="en-US" sz="1200" spc="-10" dirty="0">
              <a:latin typeface="Calibri"/>
              <a:cs typeface="Calibri"/>
            </a:endParaRPr>
          </a:p>
          <a:p>
            <a:pPr marL="37466" marR="1061085">
              <a:lnSpc>
                <a:spcPct val="106700"/>
              </a:lnSpc>
              <a:spcBef>
                <a:spcPts val="300"/>
              </a:spcBef>
              <a:buClr>
                <a:srgbClr val="182E68"/>
              </a:buClr>
              <a:buSzPct val="57142"/>
              <a:tabLst>
                <a:tab pos="160655" algn="l"/>
              </a:tabLst>
            </a:pPr>
            <a:r>
              <a:rPr lang="en-ID" sz="1200" spc="-10" dirty="0">
                <a:latin typeface="Calibri"/>
                <a:cs typeface="Calibri"/>
              </a:rPr>
              <a:t>    </a:t>
            </a:r>
            <a:r>
              <a:rPr lang="en-ID" sz="1200" spc="-10" dirty="0" err="1">
                <a:latin typeface="Calibri"/>
                <a:cs typeface="Calibri"/>
              </a:rPr>
              <a:t>Setiap</a:t>
            </a:r>
            <a:r>
              <a:rPr lang="en-ID" sz="1200" spc="-10" dirty="0">
                <a:latin typeface="Calibri"/>
                <a:cs typeface="Calibri"/>
              </a:rPr>
              <a:t> </a:t>
            </a:r>
            <a:r>
              <a:rPr lang="en-ID" sz="1200" spc="-10" dirty="0" err="1">
                <a:latin typeface="Calibri"/>
                <a:cs typeface="Calibri"/>
              </a:rPr>
              <a:t>keterlambatan</a:t>
            </a:r>
            <a:r>
              <a:rPr lang="en-ID" sz="1200" spc="-10" dirty="0">
                <a:latin typeface="Calibri"/>
                <a:cs typeface="Calibri"/>
              </a:rPr>
              <a:t> </a:t>
            </a:r>
            <a:r>
              <a:rPr lang="en-ID" sz="1200" spc="-10" dirty="0" err="1">
                <a:latin typeface="Calibri"/>
                <a:cs typeface="Calibri"/>
              </a:rPr>
              <a:t>lebih</a:t>
            </a:r>
            <a:r>
              <a:rPr lang="en-ID" sz="1200" spc="-10" dirty="0">
                <a:latin typeface="Calibri"/>
                <a:cs typeface="Calibri"/>
              </a:rPr>
              <a:t> </a:t>
            </a:r>
            <a:r>
              <a:rPr lang="en-ID" sz="1200" spc="-10" dirty="0" err="1">
                <a:latin typeface="Calibri"/>
                <a:cs typeface="Calibri"/>
              </a:rPr>
              <a:t>dari</a:t>
            </a:r>
            <a:r>
              <a:rPr lang="en-ID" sz="1200" spc="-10" dirty="0">
                <a:latin typeface="Calibri"/>
                <a:cs typeface="Calibri"/>
              </a:rPr>
              <a:t> 10 </a:t>
            </a:r>
            <a:r>
              <a:rPr lang="en-ID" sz="1200" spc="-10" dirty="0" err="1">
                <a:latin typeface="Calibri"/>
                <a:cs typeface="Calibri"/>
              </a:rPr>
              <a:t>menit</a:t>
            </a:r>
            <a:r>
              <a:rPr lang="en-ID" sz="1200" spc="-10" dirty="0">
                <a:latin typeface="Calibri"/>
                <a:cs typeface="Calibri"/>
              </a:rPr>
              <a:t> </a:t>
            </a:r>
          </a:p>
          <a:p>
            <a:pPr marL="37466" marR="1061085">
              <a:lnSpc>
                <a:spcPct val="106700"/>
              </a:lnSpc>
              <a:spcBef>
                <a:spcPts val="300"/>
              </a:spcBef>
              <a:buClr>
                <a:srgbClr val="182E68"/>
              </a:buClr>
              <a:buSzPct val="57142"/>
              <a:tabLst>
                <a:tab pos="160655" algn="l"/>
              </a:tabLst>
            </a:pPr>
            <a:r>
              <a:rPr lang="en-ID" sz="1200" spc="-10" dirty="0">
                <a:latin typeface="Calibri"/>
                <a:cs typeface="Calibri"/>
              </a:rPr>
              <a:t>    </a:t>
            </a:r>
            <a:r>
              <a:rPr lang="en-ID" sz="1200" spc="-10" dirty="0" err="1">
                <a:latin typeface="Calibri"/>
                <a:cs typeface="Calibri"/>
              </a:rPr>
              <a:t>dikenakan</a:t>
            </a:r>
            <a:r>
              <a:rPr lang="en-ID" sz="1200" spc="-10" dirty="0">
                <a:latin typeface="Calibri"/>
                <a:cs typeface="Calibri"/>
              </a:rPr>
              <a:t> </a:t>
            </a:r>
            <a:r>
              <a:rPr lang="en-ID" sz="1200" spc="-10" dirty="0" err="1">
                <a:latin typeface="Calibri"/>
                <a:cs typeface="Calibri"/>
              </a:rPr>
              <a:t>sanksi</a:t>
            </a:r>
            <a:r>
              <a:rPr lang="en-ID" sz="1200" spc="-10" dirty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  <a:p>
            <a:pPr marL="158115" indent="-120014">
              <a:lnSpc>
                <a:spcPct val="100000"/>
              </a:lnSpc>
              <a:spcBef>
                <a:spcPts val="409"/>
              </a:spcBef>
              <a:buClr>
                <a:srgbClr val="182E68"/>
              </a:buClr>
              <a:buSzPct val="57142"/>
              <a:buChar char="•"/>
              <a:tabLst>
                <a:tab pos="158115" algn="l"/>
              </a:tabLst>
            </a:pPr>
            <a:r>
              <a:rPr sz="1200" dirty="0">
                <a:latin typeface="Calibri"/>
                <a:cs typeface="Calibri"/>
              </a:rPr>
              <a:t>Wajib</a:t>
            </a:r>
            <a:r>
              <a:rPr sz="1200" spc="1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memakai</a:t>
            </a:r>
            <a:r>
              <a:rPr sz="1200" spc="100" dirty="0">
                <a:latin typeface="Calibri"/>
                <a:cs typeface="Calibri"/>
              </a:rPr>
              <a:t> </a:t>
            </a:r>
            <a:r>
              <a:rPr sz="1200" dirty="0" err="1">
                <a:latin typeface="Calibri"/>
                <a:cs typeface="Calibri"/>
              </a:rPr>
              <a:t>pakaian</a:t>
            </a:r>
            <a:r>
              <a:rPr sz="1200" spc="100" dirty="0">
                <a:latin typeface="Calibri"/>
                <a:cs typeface="Calibri"/>
              </a:rPr>
              <a:t> </a:t>
            </a:r>
            <a:r>
              <a:rPr lang="en-US" sz="1200" spc="100" dirty="0" err="1">
                <a:latin typeface="Calibri"/>
                <a:cs typeface="Calibri"/>
              </a:rPr>
              <a:t>sesuai</a:t>
            </a:r>
            <a:r>
              <a:rPr lang="en-US" sz="1200" spc="100" dirty="0">
                <a:latin typeface="Calibri"/>
                <a:cs typeface="Calibri"/>
              </a:rPr>
              <a:t> </a:t>
            </a:r>
            <a:r>
              <a:rPr lang="en-US" sz="1200" spc="100" dirty="0" err="1">
                <a:latin typeface="Calibri"/>
                <a:cs typeface="Calibri"/>
              </a:rPr>
              <a:t>dengan</a:t>
            </a:r>
            <a:r>
              <a:rPr lang="en-US" sz="1200" spc="100" dirty="0">
                <a:latin typeface="Calibri"/>
                <a:cs typeface="Calibri"/>
              </a:rPr>
              <a:t> </a:t>
            </a:r>
            <a:r>
              <a:rPr lang="en-US" sz="1200" spc="100" dirty="0" err="1">
                <a:latin typeface="Calibri"/>
                <a:cs typeface="Calibri"/>
              </a:rPr>
              <a:t>aturan</a:t>
            </a:r>
            <a:r>
              <a:rPr lang="en-US" sz="1200" spc="100" dirty="0">
                <a:latin typeface="Calibri"/>
                <a:cs typeface="Calibri"/>
              </a:rPr>
              <a:t> universitas (</a:t>
            </a:r>
            <a:r>
              <a:rPr sz="1200" dirty="0" err="1">
                <a:latin typeface="Calibri"/>
                <a:cs typeface="Calibri"/>
              </a:rPr>
              <a:t>sopan</a:t>
            </a:r>
            <a:r>
              <a:rPr lang="en-US" sz="1200" spc="100" dirty="0">
                <a:latin typeface="Calibri"/>
                <a:cs typeface="Calibri"/>
              </a:rPr>
              <a:t>, </a:t>
            </a:r>
            <a:r>
              <a:rPr sz="1200" spc="-10" dirty="0" err="1">
                <a:latin typeface="Calibri"/>
                <a:cs typeface="Calibri"/>
              </a:rPr>
              <a:t>bersepatu</a:t>
            </a:r>
            <a:r>
              <a:rPr lang="en-US" sz="1200" spc="-10" dirty="0">
                <a:latin typeface="Calibri"/>
                <a:cs typeface="Calibri"/>
              </a:rPr>
              <a:t>, </a:t>
            </a:r>
            <a:r>
              <a:rPr lang="en-US" sz="1200" spc="-10" dirty="0" err="1">
                <a:latin typeface="Calibri"/>
                <a:cs typeface="Calibri"/>
              </a:rPr>
              <a:t>tidak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lang="en-US" sz="1200" spc="-10" dirty="0" err="1">
                <a:latin typeface="Calibri"/>
                <a:cs typeface="Calibri"/>
              </a:rPr>
              <a:t>memakai</a:t>
            </a:r>
            <a:r>
              <a:rPr lang="en-US" sz="1200" spc="-10" dirty="0">
                <a:latin typeface="Calibri"/>
                <a:cs typeface="Calibri"/>
              </a:rPr>
              <a:t> anting </a:t>
            </a:r>
            <a:r>
              <a:rPr lang="en-US" sz="1200" spc="-10" dirty="0" err="1">
                <a:latin typeface="Calibri"/>
                <a:cs typeface="Calibri"/>
              </a:rPr>
              <a:t>bagi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lang="en-US" sz="1200" spc="-10" dirty="0" err="1">
                <a:latin typeface="Calibri"/>
                <a:cs typeface="Calibri"/>
              </a:rPr>
              <a:t>laki-laki</a:t>
            </a:r>
            <a:r>
              <a:rPr lang="en-US" sz="1200" spc="-10" dirty="0">
                <a:latin typeface="Calibri"/>
                <a:cs typeface="Calibri"/>
              </a:rPr>
              <a:t>, dan lain-lain)</a:t>
            </a:r>
            <a:r>
              <a:rPr sz="1200" spc="-10" dirty="0">
                <a:latin typeface="Calibri"/>
                <a:cs typeface="Calibri"/>
              </a:rPr>
              <a:t>.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lang="en-US" sz="1200" spc="-10" dirty="0" err="1">
                <a:latin typeface="Calibri"/>
                <a:cs typeface="Calibri"/>
              </a:rPr>
              <a:t>Aturan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lang="en-US" sz="1200" spc="-10" dirty="0" err="1">
                <a:latin typeface="Calibri"/>
                <a:cs typeface="Calibri"/>
              </a:rPr>
              <a:t>berpakaian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lang="en-US" sz="1200" spc="-10" dirty="0" err="1">
                <a:latin typeface="Calibri"/>
                <a:cs typeface="Calibri"/>
              </a:rPr>
              <a:t>dapat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lang="en-US" sz="1200" spc="-10" dirty="0" err="1">
                <a:latin typeface="Calibri"/>
                <a:cs typeface="Calibri"/>
              </a:rPr>
              <a:t>dilihat</a:t>
            </a:r>
            <a:r>
              <a:rPr lang="en-US" sz="1200" spc="-10" dirty="0">
                <a:latin typeface="Calibri"/>
                <a:cs typeface="Calibri"/>
              </a:rPr>
              <a:t> di </a:t>
            </a:r>
            <a:r>
              <a:rPr lang="en-US" sz="1200" spc="-10" dirty="0" err="1">
                <a:latin typeface="Calibri"/>
                <a:cs typeface="Calibri"/>
              </a:rPr>
              <a:t>buku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lang="en-US" sz="1200" spc="-10" dirty="0" err="1">
                <a:latin typeface="Calibri"/>
                <a:cs typeface="Calibri"/>
              </a:rPr>
              <a:t>saku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lang="en-US" sz="1200" spc="-10" dirty="0" err="1">
                <a:latin typeface="Calibri"/>
                <a:cs typeface="Calibri"/>
              </a:rPr>
              <a:t>mahasiswa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lang="en-US" sz="1200" spc="-10" dirty="0" err="1">
                <a:latin typeface="Calibri"/>
                <a:cs typeface="Calibri"/>
              </a:rPr>
              <a:t>atau</a:t>
            </a:r>
            <a:r>
              <a:rPr lang="en-US" sz="1200" spc="-10" dirty="0">
                <a:latin typeface="Calibri"/>
                <a:cs typeface="Calibri"/>
              </a:rPr>
              <a:t> di </a:t>
            </a:r>
            <a:r>
              <a:rPr lang="en-US" sz="1200" spc="-10" dirty="0" err="1">
                <a:latin typeface="Calibri"/>
                <a:cs typeface="Calibri"/>
              </a:rPr>
              <a:t>kode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lang="en-US" sz="1200" spc="-10" dirty="0" err="1">
                <a:latin typeface="Calibri"/>
                <a:cs typeface="Calibri"/>
              </a:rPr>
              <a:t>etik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lang="en-US" sz="1200" spc="-10" dirty="0" err="1">
                <a:latin typeface="Calibri"/>
                <a:cs typeface="Calibri"/>
              </a:rPr>
              <a:t>mahasiswa</a:t>
            </a:r>
            <a:r>
              <a:rPr lang="en-US" sz="1200" spc="-10" dirty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  <a:p>
            <a:pPr marL="157480" marR="30480" indent="-120014">
              <a:lnSpc>
                <a:spcPct val="106700"/>
              </a:lnSpc>
              <a:spcBef>
                <a:spcPts val="30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sz="1200" dirty="0">
                <a:latin typeface="Calibri"/>
                <a:cs typeface="Calibri"/>
              </a:rPr>
              <a:t>Selama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perkuliahan</a:t>
            </a:r>
            <a:r>
              <a:rPr sz="1200" spc="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kelas</a:t>
            </a:r>
            <a:r>
              <a:rPr sz="1200" spc="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mahasiswa</a:t>
            </a:r>
            <a:r>
              <a:rPr sz="1200" spc="8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diijinkan 	</a:t>
            </a:r>
            <a:r>
              <a:rPr sz="1200" dirty="0">
                <a:latin typeface="Calibri"/>
                <a:cs typeface="Calibri"/>
              </a:rPr>
              <a:t>untuk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membawa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minuman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dan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makanan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ringan</a:t>
            </a:r>
            <a:endParaRPr sz="1200" dirty="0">
              <a:latin typeface="Calibri"/>
              <a:cs typeface="Calibri"/>
            </a:endParaRPr>
          </a:p>
          <a:p>
            <a:pPr marL="158115" indent="-120014">
              <a:lnSpc>
                <a:spcPct val="100000"/>
              </a:lnSpc>
              <a:spcBef>
                <a:spcPts val="409"/>
              </a:spcBef>
              <a:buClr>
                <a:srgbClr val="182E68"/>
              </a:buClr>
              <a:buSzPct val="57142"/>
              <a:buChar char="•"/>
              <a:tabLst>
                <a:tab pos="158115" algn="l"/>
              </a:tabLst>
            </a:pPr>
            <a:r>
              <a:rPr sz="1200" dirty="0">
                <a:latin typeface="Calibri"/>
                <a:cs typeface="Calibri"/>
              </a:rPr>
              <a:t>Dilarang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merokok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dalam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lingkungan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kampus.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Kecurangan </a:t>
            </a:r>
            <a:r>
              <a:rPr spc="-40" dirty="0"/>
              <a:t>Akademik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957" y="840280"/>
            <a:ext cx="3681729" cy="21439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7480" marR="95885" indent="-120014">
              <a:lnSpc>
                <a:spcPct val="106700"/>
              </a:lnSpc>
              <a:spcBef>
                <a:spcPts val="2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sz="1400" spc="55" dirty="0">
                <a:latin typeface="Calibri"/>
                <a:cs typeface="Calibri"/>
              </a:rPr>
              <a:t>Tidak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ada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toleransi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untuk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setiap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kecurangan 	</a:t>
            </a:r>
            <a:r>
              <a:rPr sz="1400" dirty="0">
                <a:latin typeface="Calibri"/>
                <a:cs typeface="Calibri"/>
              </a:rPr>
              <a:t>akademik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seperti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mencontek,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plagiat,</a:t>
            </a:r>
            <a:r>
              <a:rPr sz="1400" spc="105" dirty="0">
                <a:latin typeface="Calibri"/>
                <a:cs typeface="Calibri"/>
              </a:rPr>
              <a:t> </a:t>
            </a:r>
            <a:r>
              <a:rPr sz="1400" dirty="0" err="1">
                <a:latin typeface="Calibri"/>
                <a:cs typeface="Calibri"/>
              </a:rPr>
              <a:t>joki</a:t>
            </a:r>
            <a:r>
              <a:rPr lang="en-US" sz="1400" dirty="0">
                <a:latin typeface="Calibri"/>
                <a:cs typeface="Calibri"/>
              </a:rPr>
              <a:t>, </a:t>
            </a:r>
            <a:r>
              <a:rPr lang="en-US" sz="1400" dirty="0" err="1">
                <a:latin typeface="Calibri"/>
                <a:cs typeface="Calibri"/>
              </a:rPr>
              <a:t>penggunaan</a:t>
            </a:r>
            <a:r>
              <a:rPr lang="en-US" sz="1400" dirty="0">
                <a:latin typeface="Calibri"/>
                <a:cs typeface="Calibri"/>
              </a:rPr>
              <a:t> AI </a:t>
            </a:r>
            <a:r>
              <a:rPr lang="en-US" sz="1400" dirty="0" err="1">
                <a:latin typeface="Calibri"/>
                <a:cs typeface="Calibri"/>
              </a:rPr>
              <a:t>dalam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asesmen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dan	</a:t>
            </a:r>
            <a:r>
              <a:rPr sz="1400" dirty="0">
                <a:latin typeface="Calibri"/>
                <a:cs typeface="Calibri"/>
              </a:rPr>
              <a:t>lain-</a:t>
            </a:r>
            <a:r>
              <a:rPr sz="1400" spc="-10" dirty="0">
                <a:latin typeface="Calibri"/>
                <a:cs typeface="Calibri"/>
              </a:rPr>
              <a:t>lain.</a:t>
            </a:r>
            <a:endParaRPr sz="1400" dirty="0">
              <a:latin typeface="Calibri"/>
              <a:cs typeface="Calibri"/>
            </a:endParaRPr>
          </a:p>
          <a:p>
            <a:pPr marL="157480" marR="30480" indent="-120014">
              <a:lnSpc>
                <a:spcPct val="106700"/>
              </a:lnSpc>
              <a:spcBef>
                <a:spcPts val="30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sz="1400" dirty="0">
                <a:latin typeface="Calibri"/>
                <a:cs typeface="Calibri"/>
              </a:rPr>
              <a:t>Kecurangan</a:t>
            </a:r>
            <a:r>
              <a:rPr sz="1400" spc="11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selama</a:t>
            </a:r>
            <a:r>
              <a:rPr sz="1400" spc="1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perkuliahan</a:t>
            </a:r>
            <a:r>
              <a:rPr sz="1400" spc="1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akan</a:t>
            </a:r>
            <a:r>
              <a:rPr sz="1400" spc="1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diberikan 	</a:t>
            </a:r>
            <a:r>
              <a:rPr sz="1400" dirty="0" err="1">
                <a:latin typeface="Calibri"/>
                <a:cs typeface="Calibri"/>
              </a:rPr>
              <a:t>sanksi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lang="en-US" sz="1400" spc="145" dirty="0" err="1">
                <a:latin typeface="Calibri"/>
                <a:cs typeface="Calibri"/>
              </a:rPr>
              <a:t>maksimal</a:t>
            </a:r>
            <a:r>
              <a:rPr lang="en-US" sz="1400" spc="145" dirty="0">
                <a:latin typeface="Calibri"/>
                <a:cs typeface="Calibri"/>
              </a:rPr>
              <a:t> </a:t>
            </a:r>
            <a:r>
              <a:rPr sz="1400" dirty="0" err="1">
                <a:latin typeface="Calibri"/>
                <a:cs typeface="Calibri"/>
              </a:rPr>
              <a:t>nilai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spc="140" dirty="0">
                <a:latin typeface="Calibri"/>
                <a:cs typeface="Calibri"/>
              </a:rPr>
              <a:t>E</a:t>
            </a:r>
            <a:r>
              <a:rPr sz="1400" spc="1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untuk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mata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kuliah</a:t>
            </a:r>
            <a:r>
              <a:rPr sz="1400" spc="1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tersebut.</a:t>
            </a:r>
            <a:endParaRPr sz="1400" dirty="0">
              <a:latin typeface="Calibri"/>
              <a:cs typeface="Calibri"/>
            </a:endParaRPr>
          </a:p>
          <a:p>
            <a:pPr marL="157480" marR="93345" indent="-120014">
              <a:lnSpc>
                <a:spcPct val="106700"/>
              </a:lnSpc>
              <a:spcBef>
                <a:spcPts val="300"/>
              </a:spcBef>
              <a:buClr>
                <a:srgbClr val="182E68"/>
              </a:buClr>
              <a:buSzPct val="57142"/>
              <a:buChar char="•"/>
              <a:tabLst>
                <a:tab pos="160655" algn="l"/>
              </a:tabLst>
            </a:pPr>
            <a:r>
              <a:rPr sz="1400" dirty="0">
                <a:latin typeface="Calibri"/>
                <a:cs typeface="Calibri"/>
              </a:rPr>
              <a:t>Kecurangan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yang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lebih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serius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dapat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dibawa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ke 	</a:t>
            </a:r>
            <a:r>
              <a:rPr sz="1400" dirty="0">
                <a:latin typeface="Calibri"/>
                <a:cs typeface="Calibri"/>
              </a:rPr>
              <a:t>Komisi</a:t>
            </a:r>
            <a:r>
              <a:rPr sz="1400" spc="1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Disiplin</a:t>
            </a:r>
            <a:r>
              <a:rPr sz="1400" spc="1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untuk</a:t>
            </a:r>
            <a:r>
              <a:rPr sz="1400" spc="1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diberikan</a:t>
            </a:r>
            <a:r>
              <a:rPr sz="1400" spc="1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sanksi</a:t>
            </a:r>
            <a:r>
              <a:rPr sz="1400" spc="18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yang 	</a:t>
            </a:r>
            <a:r>
              <a:rPr sz="1400" spc="-10" dirty="0">
                <a:latin typeface="Calibri"/>
                <a:cs typeface="Calibri"/>
              </a:rPr>
              <a:t>sesuai.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40" dirty="0"/>
              <a:t>Pertanyaan</a:t>
            </a:r>
            <a:r>
              <a:rPr dirty="0"/>
              <a:t> dan</a:t>
            </a:r>
            <a:r>
              <a:rPr spc="10" dirty="0"/>
              <a:t> </a:t>
            </a:r>
            <a:r>
              <a:rPr spc="-10" dirty="0"/>
              <a:t>Diskusi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1357" y="1351443"/>
            <a:ext cx="79375" cy="678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182E68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solidFill>
                  <a:srgbClr val="182E68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solidFill>
                  <a:srgbClr val="182E68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092125"/>
            <a:ext cx="4608195" cy="364490"/>
            <a:chOff x="0" y="3092125"/>
            <a:chExt cx="4608195" cy="364490"/>
          </a:xfrm>
        </p:grpSpPr>
        <p:sp>
          <p:nvSpPr>
            <p:cNvPr id="5" name="object 5"/>
            <p:cNvSpPr/>
            <p:nvPr/>
          </p:nvSpPr>
          <p:spPr>
            <a:xfrm>
              <a:off x="0" y="3103067"/>
              <a:ext cx="4608195" cy="353060"/>
            </a:xfrm>
            <a:custGeom>
              <a:avLst/>
              <a:gdLst/>
              <a:ahLst/>
              <a:cxnLst/>
              <a:rect l="l" t="t" r="r" b="b"/>
              <a:pathLst>
                <a:path w="4608195" h="353060">
                  <a:moveTo>
                    <a:pt x="4608004" y="0"/>
                  </a:moveTo>
                  <a:lnTo>
                    <a:pt x="0" y="0"/>
                  </a:lnTo>
                  <a:lnTo>
                    <a:pt x="0" y="352932"/>
                  </a:lnTo>
                  <a:lnTo>
                    <a:pt x="4608004" y="3529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3B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53" y="3092125"/>
              <a:ext cx="907920" cy="36387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>16</a:t>
            </a:r>
            <a:r>
              <a:rPr spc="-20" dirty="0"/>
              <a:t> </a:t>
            </a:r>
            <a:r>
              <a:rPr dirty="0"/>
              <a:t>September</a:t>
            </a:r>
            <a:r>
              <a:rPr spc="-15" dirty="0"/>
              <a:t> 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25010" y="3210317"/>
            <a:ext cx="874394" cy="11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Informasi</a:t>
            </a:r>
            <a:r>
              <a:rPr sz="700" spc="-2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700" spc="-10" dirty="0">
                <a:solidFill>
                  <a:srgbClr val="182E68"/>
                </a:solidFill>
                <a:latin typeface="Tahoma"/>
                <a:cs typeface="Tahoma"/>
                <a:hlinkClick r:id="rId3" action="ppaction://hlinksldjump"/>
              </a:rPr>
              <a:t>Perkuliahan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82E6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1478</Words>
  <Application>Microsoft Office PowerPoint</Application>
  <PresentationFormat>Custom</PresentationFormat>
  <Paragraphs>136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Calibri</vt:lpstr>
      <vt:lpstr>Tahoma</vt:lpstr>
      <vt:lpstr>Office Theme</vt:lpstr>
      <vt:lpstr>PowerPoint Presentation</vt:lpstr>
      <vt:lpstr>Informasi Perkuliahan</vt:lpstr>
      <vt:lpstr>Mata Kuliah Matematika Diskret</vt:lpstr>
      <vt:lpstr>Program Learning Outcomes (PLO)</vt:lpstr>
      <vt:lpstr>Course Learning Outcomes (CLO)</vt:lpstr>
      <vt:lpstr>Sub - CLO</vt:lpstr>
      <vt:lpstr>Sub - CLO (lanjutan)</vt:lpstr>
      <vt:lpstr>Materi Setiap Pekan</vt:lpstr>
      <vt:lpstr>Materi setiap pekan</vt:lpstr>
      <vt:lpstr>Materi setiap pekan</vt:lpstr>
      <vt:lpstr>Referensi</vt:lpstr>
      <vt:lpstr>Penilaian</vt:lpstr>
      <vt:lpstr>Pelaksanaan Asesmen</vt:lpstr>
      <vt:lpstr>Pelaksanaan Asesmen</vt:lpstr>
      <vt:lpstr>Deadline Penilaian Asesmen</vt:lpstr>
      <vt:lpstr>Ujian Susulan</vt:lpstr>
      <vt:lpstr>Ujian Remedial</vt:lpstr>
      <vt:lpstr>Nilai Akhir</vt:lpstr>
      <vt:lpstr>Aturan Pertemuan di kelas</vt:lpstr>
      <vt:lpstr>Kecurangan Akademik</vt:lpstr>
      <vt:lpstr>Pertanyaan dan Diskusi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Informasi Perkuliahan - Mata Kuliah Kalkulus S1 Rekayasa Perangkat Lunak</dc:title>
  <dc:creator>Semester Ganjil 2024/2025</dc:creator>
  <cp:lastModifiedBy>Rian Umbara</cp:lastModifiedBy>
  <cp:revision>11</cp:revision>
  <dcterms:created xsi:type="dcterms:W3CDTF">2025-08-28T02:48:44Z</dcterms:created>
  <dcterms:modified xsi:type="dcterms:W3CDTF">2025-09-09T12:43:37Z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2025-08-28T00:00:00Z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3-Heights(TM) PDF Security Shell 4.8.25.2 (http://www.pdf-tools.com)</vt:lpwstr>
  </property>
</Properties>
</file>